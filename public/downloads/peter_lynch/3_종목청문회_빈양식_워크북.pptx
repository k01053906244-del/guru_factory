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2545"/>
            </a:gs>
            <a:gs pos="100000">
              <a:srgbClr val="06132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gradFill>
            <a:gsLst>
              <a:gs pos="0">
                <a:srgbClr val="C59B27"/>
              </a:gs>
              <a:gs pos="100000">
                <a:srgbClr val="E5C158"/>
              </a:gs>
            </a:gsLst>
            <a:lin ang="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096250" y="-1714500"/>
            <a:ext cx="5715000" cy="5715000"/>
          </a:xfrm>
          <a:prstGeom prst="ellipse">
            <a:avLst/>
          </a:prstGeom>
          <a:solidFill>
            <a:srgbClr val="134074">
              <a:alpha val="12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048750" y="-762000"/>
            <a:ext cx="3810000" cy="3810000"/>
          </a:xfrm>
          <a:prstGeom prst="ellipse">
            <a:avLst/>
          </a:prstGeom>
          <a:solidFill>
            <a:srgbClr val="C59B27">
              <a:alpha val="8000"/>
            </a:srgbClr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933450" y="1238250"/>
            <a:ext cx="7376436" cy="4330637"/>
            <a:chOff x="933450" y="1238250"/>
            <a:chExt cx="7376436" cy="4330637"/>
          </a:xfrm>
        </p:grpSpPr>
        <p:sp>
          <p:nvSpPr>
            <p:cNvPr id="5" name="Rectangle 5"/>
            <p:cNvSpPr/>
            <p:nvPr/>
          </p:nvSpPr>
          <p:spPr>
            <a:xfrm>
              <a:off x="952500" y="1238250"/>
              <a:ext cx="2476500" cy="342900"/>
            </a:xfrm>
            <a:prstGeom prst="roundRect">
              <a:avLst>
                <a:gd name="adj" fmla="val 50000"/>
              </a:avLst>
            </a:prstGeom>
            <a:solidFill>
              <a:srgbClr val="134074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39917" y="1335881"/>
              <a:ext cx="19016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2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TIER 2. 실전 진단 워크북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3450" y="1816418"/>
              <a:ext cx="661910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350" b="1" spc="-75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피터 린치의 종목 청문회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619375"/>
              <a:ext cx="762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9B27"/>
                </a:gs>
                <a:gs pos="100000">
                  <a:srgbClr val="E5C15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1832" y="2916555"/>
              <a:ext cx="73680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F4F6F9"/>
                  </a:solidFill>
                  <a:latin typeface="Pretendard"/>
                  <a:ea typeface="Pretendard"/>
                  <a:cs typeface="Pretendard"/>
                </a:rPr>
                <a:t>"당신의 종목은 피터 린치 앞에서 살아남을 수 있는가?"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3571875"/>
              <a:ext cx="7239000" cy="904875"/>
            </a:xfrm>
            <a:prstGeom prst="roundRect">
              <a:avLst>
                <a:gd name="adj" fmla="val 12632"/>
              </a:avLst>
            </a:prstGeom>
            <a:solidFill>
              <a:srgbClr val="134074">
                <a:alpha val="60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52500" y="3571875"/>
              <a:ext cx="57150" cy="904875"/>
            </a:xfrm>
            <a:prstGeom prst="roundRect">
              <a:avLst>
                <a:gd name="adj" fmla="val 50000"/>
              </a:avLst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31011" y="3799046"/>
              <a:ext cx="49997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42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12가지 무자비한 심문 질문과 4단계 최종 선고 매트릭스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32535" y="4145756"/>
              <a:ext cx="5296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>내 보유 종목의 민낯을 마주하고 매수·보유·손절을 판정하는 10분 실전 워크북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46785" y="5117306"/>
              <a:ext cx="3641369" cy="451581"/>
              <a:chOff x="946785" y="5117306"/>
              <a:chExt cx="3641369" cy="45158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946785" y="5117306"/>
                <a:ext cx="36413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8E9AA8"/>
                    </a:solidFill>
                    <a:latin typeface="Pretendard"/>
                    <a:ea typeface="Pretendard"/>
                    <a:cs typeface="Pretendard"/>
                  </a:rPr>
                  <a:t>피터 린치(Peter Lynch) 원칙 기반 종목 진단 시스템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7166" y="5363528"/>
                <a:ext cx="30355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투자구루를 만나기 위한 여정 | 실전 진단 가이드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8572500" y="1905000"/>
            <a:ext cx="2667000" cy="3619500"/>
            <a:chOff x="8572500" y="1905000"/>
            <a:chExt cx="2667000" cy="3619500"/>
          </a:xfrm>
        </p:grpSpPr>
        <p:sp>
          <p:nvSpPr>
            <p:cNvPr id="18" name="Rectangle 18"/>
            <p:cNvSpPr/>
            <p:nvPr/>
          </p:nvSpPr>
          <p:spPr>
            <a:xfrm>
              <a:off x="8572500" y="1905000"/>
              <a:ext cx="2667000" cy="3619500"/>
            </a:xfrm>
            <a:prstGeom prst="roundRect">
              <a:avLst>
                <a:gd name="adj" fmla="val 5000"/>
              </a:avLst>
            </a:prstGeom>
            <a:solidFill>
              <a:srgbClr val="134074">
                <a:alpha val="40000"/>
              </a:srgbClr>
            </a:solidFill>
            <a:ln w="9525">
              <a:solidFill>
                <a:srgbClr val="1E4D82">
                  <a:alpha val="4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1392" y="2235518"/>
              <a:ext cx="1463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청문회 진행 순서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858250" y="25717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1E4D8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52535" y="2831306"/>
              <a:ext cx="19117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1심. 신분 심문 (6대 유형)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52535" y="3259931"/>
              <a:ext cx="23013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2심. 상식 심문 (크레용 테스트)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52535" y="3688556"/>
              <a:ext cx="2346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3심. 재무 심문 (복제력 &amp; PEG)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52535" y="4117181"/>
              <a:ext cx="209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4심. 뻘짓 심문 (사업다악화)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52535" y="4545806"/>
              <a:ext cx="21422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5심. 멘탈 심문 (폭락장 배짱)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810625" y="4953000"/>
              <a:ext cx="2190750" cy="381000"/>
            </a:xfrm>
            <a:prstGeom prst="roundRect">
              <a:avLst>
                <a:gd name="adj" fmla="val 20000"/>
              </a:avLst>
            </a:prstGeom>
            <a:gradFill>
              <a:gsLst>
                <a:gs pos="0">
                  <a:srgbClr val="C59B27"/>
                </a:gs>
                <a:gs pos="100000">
                  <a:srgbClr val="E5C15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40353" y="5069681"/>
              <a:ext cx="1331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2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최종 판결 &amp; 채점 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9308" y="428625"/>
            <a:ext cx="9082156" cy="1007078"/>
            <a:chOff x="559308" y="428625"/>
            <a:chExt cx="9082156" cy="1007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37" y="494824"/>
              <a:ext cx="974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1심 : 신분 심문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760095"/>
              <a:ext cx="9082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"당신이 산 주식의 정체는 무엇인가?" (6대 유형 자가 분류)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86339"/>
              <a:ext cx="5728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기업의 유형을 모른 채 투자하는 것은 목적지 없이 바다로 나가는 것과 같다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71500" y="1524000"/>
            <a:ext cx="11049000" cy="4476750"/>
            <a:chOff x="571500" y="1524000"/>
            <a:chExt cx="11049000" cy="4476750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524000"/>
              <a:ext cx="3476625" cy="2143125"/>
              <a:chOff x="571500" y="1524000"/>
              <a:chExt cx="3476625" cy="214312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3476625" cy="2143125"/>
              </a:xfrm>
              <a:prstGeom prst="roundRect">
                <a:avLst>
                  <a:gd name="adj" fmla="val 4444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3476625" cy="47625"/>
              </a:xfrm>
              <a:prstGeom prst="roundRect">
                <a:avLst>
                  <a:gd name="adj" fmla="val 40000"/>
                </a:avLst>
              </a:pr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55142" y="1711642"/>
                <a:ext cx="25777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1. 저성장주 (Slow Growers)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7047" y="1990249"/>
                <a:ext cx="155345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연 2~4% 성장 | 배당 목적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762000" y="2238375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9525">
                    <a:moveTo>
                      <a:pt x="0" y="0"/>
                    </a:moveTo>
                    <a:lnTo>
                      <a:pt x="309562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56666" y="2410778"/>
                <a:ext cx="26117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전기, 가스, 유틸리티 등 성숙기 대기업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6666" y="2648902"/>
                <a:ext cx="25764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주가 대박은 기대 금지, 오직 정기 배당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762000" y="3190875"/>
                <a:ext cx="3095625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99922" y="3276124"/>
                <a:ext cx="209094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64748B"/>
                    </a:solidFill>
                    <a:latin typeface="Pretendard"/>
                    <a:ea typeface="Pretendard"/>
                    <a:cs typeface="Pretendard"/>
                  </a:rPr>
                  <a:t>💡 기대수익: 연 5~8% (배당 포함)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352925" y="1524000"/>
              <a:ext cx="3476625" cy="2143125"/>
              <a:chOff x="4352925" y="1524000"/>
              <a:chExt cx="3476625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352925" y="1524000"/>
                <a:ext cx="3476625" cy="2143125"/>
              </a:xfrm>
              <a:prstGeom prst="roundRect">
                <a:avLst>
                  <a:gd name="adj" fmla="val 4444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4352925" y="1524000"/>
                <a:ext cx="3476625" cy="47625"/>
              </a:xfrm>
              <a:prstGeom prst="roundRect">
                <a:avLst>
                  <a:gd name="adj" fmla="val 4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536567" y="1711642"/>
                <a:ext cx="24524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2. 대형우량주 (Stalwarts)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38472" y="1990249"/>
                <a:ext cx="211851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연 10~12% 성장 | 포트폴리오 방패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4543425" y="2238375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9525">
                    <a:moveTo>
                      <a:pt x="0" y="0"/>
                    </a:moveTo>
                    <a:lnTo>
                      <a:pt x="309562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538091" y="2410778"/>
                <a:ext cx="263299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코카콜라, 존슨앤존슨 등 독점적 대기업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38091" y="2648902"/>
                <a:ext cx="27884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폭락장 방어력 우수, 30~50% 상승 시 교체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4543425" y="3190875"/>
                <a:ext cx="3095625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681347" y="3276124"/>
                <a:ext cx="17739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💡 기대수익: 연 10~15% 수준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143875" y="1524000"/>
              <a:ext cx="3476625" cy="2143125"/>
              <a:chOff x="8143875" y="1524000"/>
              <a:chExt cx="3476625" cy="214312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8143875" y="1524000"/>
                <a:ext cx="3476625" cy="2143125"/>
              </a:xfrm>
              <a:prstGeom prst="roundRect">
                <a:avLst>
                  <a:gd name="adj" fmla="val 4444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8143875" y="1524000"/>
                <a:ext cx="3476625" cy="47625"/>
              </a:xfrm>
              <a:prstGeom prst="roundRect">
                <a:avLst>
                  <a:gd name="adj" fmla="val 40000"/>
                </a:avLst>
              </a:prstGeom>
              <a:solidFill>
                <a:srgbClr val="EAB308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327517" y="1711642"/>
                <a:ext cx="23180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3. 경기순환주 (Cyclicals)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29422" y="1990249"/>
                <a:ext cx="200825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사이클 롤러코스터 | 타이밍 싸움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8334375" y="2238375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9525">
                    <a:moveTo>
                      <a:pt x="0" y="0"/>
                    </a:moveTo>
                    <a:lnTo>
                      <a:pt x="309562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329041" y="2410778"/>
                <a:ext cx="22230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자동차, 철강, 화학, 반도체 제조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329041" y="2648902"/>
                <a:ext cx="27152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고점에서 PER 낮고, 바닥에서 PER 높음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8334375" y="3190875"/>
                <a:ext cx="3095625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472297" y="3276124"/>
                <a:ext cx="206338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92400E"/>
                    </a:solidFill>
                    <a:latin typeface="Pretendard"/>
                    <a:ea typeface="Pretendard"/>
                    <a:cs typeface="Pretendard"/>
                  </a:rPr>
                  <a:t>⚠️ 고점 매수 시 최악의 장기 물림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71500" y="3857625"/>
              <a:ext cx="3476625" cy="2143125"/>
              <a:chOff x="571500" y="3857625"/>
              <a:chExt cx="3476625" cy="2143125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71500" y="3857625"/>
                <a:ext cx="3476625" cy="2143125"/>
              </a:xfrm>
              <a:prstGeom prst="roundRect">
                <a:avLst>
                  <a:gd name="adj" fmla="val 4444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571500" y="3857625"/>
                <a:ext cx="3476625" cy="47625"/>
              </a:xfrm>
              <a:prstGeom prst="roundRect">
                <a:avLst>
                  <a:gd name="adj" fmla="val 4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55142" y="4045268"/>
                <a:ext cx="2751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4. 고성장주 (Fast Growers) ⭐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57047" y="4323874"/>
                <a:ext cx="217363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연 20~25% 폭발 성장 | 10루타 주역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762000" y="4572000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9525">
                    <a:moveTo>
                      <a:pt x="0" y="0"/>
                    </a:moveTo>
                    <a:lnTo>
                      <a:pt x="309562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56666" y="4744402"/>
                <a:ext cx="269660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성공 공식을 전국으로 복제하는 강소기업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56666" y="4982528"/>
                <a:ext cx="23493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기관 비중이 낮고 PER 20~25 선호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62000" y="5524500"/>
                <a:ext cx="3095625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EF9C3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899922" y="5609749"/>
                <a:ext cx="16292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854D0E"/>
                    </a:solidFill>
                    <a:latin typeface="Pretendard"/>
                    <a:ea typeface="Pretendard"/>
                    <a:cs typeface="Pretendard"/>
                  </a:rPr>
                  <a:t>🎯 10배~100배 수익의 산실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352925" y="3857625"/>
              <a:ext cx="3476625" cy="2143125"/>
              <a:chOff x="4352925" y="3857625"/>
              <a:chExt cx="3476625" cy="2143125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4352925" y="3857625"/>
                <a:ext cx="3476625" cy="2143125"/>
              </a:xfrm>
              <a:prstGeom prst="roundRect">
                <a:avLst>
                  <a:gd name="adj" fmla="val 4444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4352925" y="3857625"/>
                <a:ext cx="3476625" cy="47625"/>
              </a:xfrm>
              <a:prstGeom prst="roundRect">
                <a:avLst>
                  <a:gd name="adj" fmla="val 4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536567" y="4045268"/>
                <a:ext cx="228661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5. 회생주 (Turnarounds)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538472" y="4323874"/>
                <a:ext cx="173262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파산 위기 극복 | 턴어라운드</a:t>
                </a: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4543425" y="4572000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9525">
                    <a:moveTo>
                      <a:pt x="0" y="0"/>
                    </a:moveTo>
                    <a:lnTo>
                      <a:pt x="309562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538091" y="4744402"/>
                <a:ext cx="255525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극도의 저평가 상태에서 구조조정 성공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538091" y="4982528"/>
                <a:ext cx="23573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무수익 사업 매각 및 부채 해결 확인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4543425" y="5524500"/>
                <a:ext cx="3095625" cy="285750"/>
              </a:xfrm>
              <a:prstGeom prst="roundRect">
                <a:avLst>
                  <a:gd name="adj" fmla="val 20000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4681347" y="5609749"/>
                <a:ext cx="184287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🔥 하이 리스크, 초고수익 반등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8143875" y="3857625"/>
              <a:ext cx="3476625" cy="2143125"/>
              <a:chOff x="8143875" y="3857625"/>
              <a:chExt cx="3476625" cy="2143125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8143875" y="3857625"/>
                <a:ext cx="3476625" cy="2143125"/>
              </a:xfrm>
              <a:prstGeom prst="roundRect">
                <a:avLst>
                  <a:gd name="adj" fmla="val 4444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143875" y="3857625"/>
                <a:ext cx="3476625" cy="47625"/>
              </a:xfrm>
              <a:prstGeom prst="roundRect">
                <a:avLst>
                  <a:gd name="adj" fmla="val 40000"/>
                </a:avLst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327517" y="4045268"/>
                <a:ext cx="2204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6. 자산주 (Asset Plays)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329422" y="4323874"/>
                <a:ext cx="173262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숨겨진 알짜 자산 | 안전마진</a:t>
                </a:r>
              </a:p>
            </p:txBody>
          </p:sp>
          <p:sp>
            <p:nvSpPr>
              <p:cNvPr id="62" name="Line 62"/>
              <p:cNvSpPr/>
              <p:nvPr/>
            </p:nvSpPr>
            <p:spPr>
              <a:xfrm>
                <a:off x="8334375" y="4572000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9525">
                    <a:moveTo>
                      <a:pt x="0" y="0"/>
                    </a:moveTo>
                    <a:lnTo>
                      <a:pt x="309562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8329041" y="4744402"/>
                <a:ext cx="27531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장부상 부동산, 유가증권, 특허 가치 보유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329041" y="4982528"/>
                <a:ext cx="22513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숨겨진 자산 가치 &gt; 현재 시가총액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8334375" y="5524500"/>
                <a:ext cx="3095625" cy="285750"/>
              </a:xfrm>
              <a:prstGeom prst="roundRect">
                <a:avLst>
                  <a:gd name="adj" fmla="val 2000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8472297" y="5609749"/>
                <a:ext cx="215985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E40AF"/>
                    </a:solidFill>
                    <a:latin typeface="Pretendard"/>
                    <a:ea typeface="Pretendard"/>
                    <a:cs typeface="Pretendard"/>
                  </a:rPr>
                  <a:t>🛡️ 하방 경직성이 확보된 안전 투자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571500" y="6143625"/>
            <a:ext cx="11049000" cy="381000"/>
            <a:chOff x="571500" y="6143625"/>
            <a:chExt cx="11049000" cy="381000"/>
          </a:xfrm>
        </p:grpSpPr>
        <p:sp>
          <p:nvSpPr>
            <p:cNvPr id="69" name="Rectangle 69"/>
            <p:cNvSpPr/>
            <p:nvPr/>
          </p:nvSpPr>
          <p:spPr>
            <a:xfrm>
              <a:off x="571500" y="6143625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673329" y="6268402"/>
              <a:ext cx="6845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⚖️ 1심 판결 규칙: 당신의 종목이 위 6가지 중 어디에 해당하는지 먼저 확정하고 2심으로 넘어가십시오.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9308" y="428625"/>
            <a:ext cx="6171981" cy="1007078"/>
            <a:chOff x="559308" y="428625"/>
            <a:chExt cx="6171981" cy="1007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37" y="494824"/>
              <a:ext cx="974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2심 : 상식 심문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760095"/>
              <a:ext cx="516390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"크레용 테스트 &amp; 일상 관찰 심문"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86339"/>
              <a:ext cx="6166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복잡한 금융 공학 뒤에 숨지 말고, 초등학생도 이해할 수 있는 상식으로 증명하라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524000"/>
            <a:ext cx="11049000" cy="4000500"/>
            <a:chOff x="571500" y="1524000"/>
            <a:chExt cx="11049000" cy="4000500"/>
          </a:xfrm>
        </p:grpSpPr>
        <p:grpSp>
          <p:nvGrpSpPr>
            <p:cNvPr id="25" name="Group 25"/>
            <p:cNvGrpSpPr/>
            <p:nvPr/>
          </p:nvGrpSpPr>
          <p:grpSpPr>
            <a:xfrm>
              <a:off x="571500" y="1524000"/>
              <a:ext cx="3476625" cy="4000500"/>
              <a:chOff x="571500" y="1524000"/>
              <a:chExt cx="3476625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09625" y="1762125"/>
                <a:ext cx="5715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8108" y="1829752"/>
                <a:ext cx="2145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E5C158"/>
                    </a:solidFill>
                    <a:latin typeface="Pretendard"/>
                    <a:ea typeface="Pretendard"/>
                    <a:cs typeface="Pretendard"/>
                  </a:rPr>
                  <a:t>Q1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2005" y="2171700"/>
                <a:ext cx="135100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크레용 테스트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04291" y="2458402"/>
                <a:ext cx="16432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2분 안에 설명 가능한가?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809625" y="27146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03910" y="2926556"/>
                <a:ext cx="9101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질문 내용: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4291" y="3172778"/>
                <a:ext cx="225814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초등학생에게 크레용으로 이 회사가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4291" y="3382328"/>
                <a:ext cx="227935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어떻게 돈을 버는지 2분 안에 그림을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4291" y="3591878"/>
                <a:ext cx="20955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그려가며 쉽게 설명할 수 있는가?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62000" y="4000500"/>
                <a:ext cx="309562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99922" y="4133374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피터 린치의 팩폭: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0112" y="4360545"/>
                <a:ext cx="20389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"어린아이에게 설명할 수 없는 복잡한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00112" y="4551045"/>
                <a:ext cx="232970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사업은 당신도 모르는 것이다. 사지 마라."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762000" y="4953000"/>
                <a:ext cx="30956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112368" y="5077778"/>
                <a:ext cx="23853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 ] 통과 (10점) / [ ] 불합격 (0점)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352925" y="1524000"/>
              <a:ext cx="3476625" cy="4000500"/>
              <a:chOff x="4352925" y="1524000"/>
              <a:chExt cx="3476625" cy="4000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35292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35292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591050" y="1762125"/>
                <a:ext cx="5715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69533" y="1829752"/>
                <a:ext cx="2145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Q2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83430" y="2171700"/>
                <a:ext cx="14146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현장 관찰 우위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85716" y="2458402"/>
                <a:ext cx="15171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직접 경험해 보았는가?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4591050" y="27146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585335" y="2926556"/>
                <a:ext cx="9101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질문 내용: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85716" y="3172778"/>
                <a:ext cx="22157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당신, 가족, 직장 동료가 이 기업의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585716" y="3382328"/>
                <a:ext cx="26609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제품/서비스에 열광하며 매장에 줄을 서는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585716" y="3591878"/>
                <a:ext cx="223694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모습을 직접 두 눈으로 확인했는가?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4543425" y="4000500"/>
                <a:ext cx="309562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681347" y="4133374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피터 린치의 팩폭: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681538" y="4360545"/>
                <a:ext cx="224489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"사모님이 열광한 던킨도너츠와 레그스는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681538" y="4551045"/>
                <a:ext cx="217219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월가 전문가보다 1년 먼저 발견되었다."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4543425" y="4953000"/>
                <a:ext cx="30956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893793" y="5077778"/>
                <a:ext cx="23853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 ] 통과 (10점) / [ ] 불합격 (0점)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143875" y="1524000"/>
              <a:ext cx="3476625" cy="4000500"/>
              <a:chOff x="8143875" y="1524000"/>
              <a:chExt cx="3476625" cy="40005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14387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14387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34074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8382000" y="1762125"/>
                <a:ext cx="5715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134074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560483" y="1829752"/>
                <a:ext cx="2145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Q3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374380" y="2171700"/>
                <a:ext cx="16266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소외주 선점 여부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76666" y="2458402"/>
                <a:ext cx="15616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언론 보도 전에 샀는가?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8382000" y="27146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376285" y="2926556"/>
                <a:ext cx="9101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질문 내용: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376666" y="3172778"/>
                <a:ext cx="223694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신문 1면이나 유튜브 인기 영상에서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376666" y="3382328"/>
                <a:ext cx="227935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매일 다루기 전, 아직 대중의 관심이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376666" y="3591878"/>
                <a:ext cx="20955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미미할 때 먼저 발굴한 종목인가?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334375" y="4000500"/>
                <a:ext cx="309562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472297" y="4133374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피터 린치의 팩폭: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472488" y="4360545"/>
                <a:ext cx="203892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"모두가 칭찬하는 유명한 주식은 이미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472488" y="4551045"/>
                <a:ext cx="245085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비싸다. 따분하고 소외된 곳에 기회가 있다."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8334375" y="4953000"/>
                <a:ext cx="30956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684743" y="5077778"/>
                <a:ext cx="23853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 ] 통과 (10점) / [ ] 불합격 (0점)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71500" y="5810250"/>
            <a:ext cx="11049000" cy="476250"/>
            <a:chOff x="571500" y="5810250"/>
            <a:chExt cx="11049000" cy="476250"/>
          </a:xfrm>
        </p:grpSpPr>
        <p:sp>
          <p:nvSpPr>
            <p:cNvPr id="63" name="Rectangle 63"/>
            <p:cNvSpPr/>
            <p:nvPr/>
          </p:nvSpPr>
          <p:spPr>
            <a:xfrm>
              <a:off x="571500" y="58102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7166" y="5992178"/>
              <a:ext cx="51236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2심 총점 : _____ / 30점 (모르는 사업에 투자했다면 즉시 0점 처리하십시오)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9308" y="428625"/>
            <a:ext cx="5894603" cy="1007078"/>
            <a:chOff x="559308" y="428625"/>
            <a:chExt cx="5894603" cy="1007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37" y="494824"/>
              <a:ext cx="974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3심 : 재무 심문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760095"/>
              <a:ext cx="516390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"성공 공식 복제력 &amp; 숫자의 진실"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86339"/>
              <a:ext cx="5888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입증된 비즈니스 모델의 전국 복제력과 합리적인 가격(PEG)을 갖췄는가?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524000"/>
            <a:ext cx="11049000" cy="4000500"/>
            <a:chOff x="571500" y="1524000"/>
            <a:chExt cx="11049000" cy="4000500"/>
          </a:xfrm>
        </p:grpSpPr>
        <p:grpSp>
          <p:nvGrpSpPr>
            <p:cNvPr id="25" name="Group 25"/>
            <p:cNvGrpSpPr/>
            <p:nvPr/>
          </p:nvGrpSpPr>
          <p:grpSpPr>
            <a:xfrm>
              <a:off x="571500" y="1524000"/>
              <a:ext cx="3476625" cy="4000500"/>
              <a:chOff x="571500" y="1524000"/>
              <a:chExt cx="3476625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09625" y="1762125"/>
                <a:ext cx="5715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8108" y="1829752"/>
                <a:ext cx="2145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E5C158"/>
                    </a:solidFill>
                    <a:latin typeface="Pretendard"/>
                    <a:ea typeface="Pretendard"/>
                    <a:cs typeface="Pretendard"/>
                  </a:rPr>
                  <a:t>Q4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2005" y="2171700"/>
                <a:ext cx="190227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성공 공식 복제 능력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04291" y="2458402"/>
                <a:ext cx="17100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전국 확장 여력이 있는가?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809625" y="27146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03910" y="2926556"/>
                <a:ext cx="9101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질문 내용: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4291" y="3172778"/>
                <a:ext cx="248431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한 매장이나 특정 지역에서 검증된 성공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4291" y="3382328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공식을 전국(또는 글로벌)으로 똑같이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4291" y="3591878"/>
                <a:ext cx="25196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복제하여 확장할 시장 여력이 충분한가?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62000" y="4000500"/>
                <a:ext cx="309562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99922" y="4133374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피터 린치의 팩폭: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0112" y="4360545"/>
                <a:ext cx="20389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"월마트는 작은 시골 마을을 복제하며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00112" y="4551045"/>
                <a:ext cx="230546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전국으로 뻗어나가 100배 주식이 되었다."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762000" y="4953000"/>
                <a:ext cx="30956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112368" y="5077778"/>
                <a:ext cx="23853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 ] 통과 (10점) / [ ] 불합격 (0점)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352925" y="1524000"/>
              <a:ext cx="3476625" cy="4000500"/>
              <a:chOff x="4352925" y="1524000"/>
              <a:chExt cx="3476625" cy="4000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35292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35292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591050" y="1762125"/>
                <a:ext cx="5715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69533" y="1829752"/>
                <a:ext cx="2145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Q5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83430" y="2171700"/>
                <a:ext cx="14154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PEG 비율 검증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85716" y="2458402"/>
                <a:ext cx="20650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성장률 대비 PER이 적정한가?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4591050" y="27146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585335" y="2926556"/>
                <a:ext cx="9101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질문 내용: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85716" y="3172778"/>
                <a:ext cx="222854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PER을 연간 이익성장률로 나눈 값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585716" y="3382328"/>
                <a:ext cx="15318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(PEG = PER ÷ 성장률)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585716" y="3591878"/>
                <a:ext cx="27740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이 1.0 이하(안전)인가? (2.0 이상은 위험)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4543425" y="4000500"/>
                <a:ext cx="309562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681347" y="4133374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피터 린치의 팩폭: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681538" y="4360545"/>
                <a:ext cx="246743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"성장률 20% 기업의 PER이 40이면 비싸다.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681538" y="4551045"/>
                <a:ext cx="243542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PER은 성장률과 비슷하거나 낮아야 한다."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4543425" y="4953000"/>
                <a:ext cx="30956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893793" y="5077778"/>
                <a:ext cx="23853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 ] 통과 (10점) / [ ] 불합격 (0점)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143875" y="1524000"/>
              <a:ext cx="3476625" cy="4000500"/>
              <a:chOff x="8143875" y="1524000"/>
              <a:chExt cx="3476625" cy="40005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14387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14387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34074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8382000" y="1762125"/>
                <a:ext cx="5715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134074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560483" y="1829752"/>
                <a:ext cx="2145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Q6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374380" y="2171700"/>
                <a:ext cx="205069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기관 미보유 프리미엄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76666" y="2458402"/>
                <a:ext cx="15171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월가가 아직 모르는가?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8382000" y="27146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376285" y="2926556"/>
                <a:ext cx="9101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질문 내용: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376666" y="3172778"/>
                <a:ext cx="20955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증권사 분석 리포트가 거의 없고,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376666" y="3382328"/>
                <a:ext cx="24701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기관투자자 지분율이 20~30% 미만으로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376666" y="3591878"/>
                <a:ext cx="24631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낮아 향후 기관 매수 유입 여력이 큰가?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334375" y="4000500"/>
                <a:ext cx="309562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472297" y="4133374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피터 린치의 팩폭: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472488" y="4360545"/>
                <a:ext cx="229941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"기관이 가득 찬 종목은 팔 사람만 남았다.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472488" y="4551045"/>
                <a:ext cx="202074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기관이 없을 때 사서 기관에 넘겨라."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8334375" y="4953000"/>
                <a:ext cx="30956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684743" y="5077778"/>
                <a:ext cx="23853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 ] 통과 (10점) / [ ] 불합격 (0점)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71500" y="5810250"/>
            <a:ext cx="11049000" cy="476250"/>
            <a:chOff x="571500" y="5810250"/>
            <a:chExt cx="11049000" cy="476250"/>
          </a:xfrm>
        </p:grpSpPr>
        <p:sp>
          <p:nvSpPr>
            <p:cNvPr id="63" name="Rectangle 63"/>
            <p:cNvSpPr/>
            <p:nvPr/>
          </p:nvSpPr>
          <p:spPr>
            <a:xfrm>
              <a:off x="571500" y="58102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7166" y="5992178"/>
              <a:ext cx="492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3심 총점 : _____ / 30점 (PEG 2.0 이상 고평가 종목은 0점 감점 처리)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9308" y="428625"/>
            <a:ext cx="5236540" cy="1007078"/>
            <a:chOff x="559308" y="428625"/>
            <a:chExt cx="5236540" cy="1007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37" y="494824"/>
              <a:ext cx="974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DC2626"/>
                  </a:solidFill>
                  <a:latin typeface="Pretendard"/>
                  <a:ea typeface="Pretendard"/>
                  <a:cs typeface="Pretendard"/>
                </a:rPr>
                <a:t>4심 : 뻘짓 심문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760095"/>
              <a:ext cx="42818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"사업다악화 &amp; 상투의 징후"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86339"/>
              <a:ext cx="5230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본업을 벗어난 무리한 확장과 대중의 비이성적 과열 징후를 경계하라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524000"/>
            <a:ext cx="11049000" cy="4000500"/>
            <a:chOff x="571500" y="1524000"/>
            <a:chExt cx="11049000" cy="4000500"/>
          </a:xfrm>
        </p:grpSpPr>
        <p:grpSp>
          <p:nvGrpSpPr>
            <p:cNvPr id="25" name="Group 25"/>
            <p:cNvGrpSpPr/>
            <p:nvPr/>
          </p:nvGrpSpPr>
          <p:grpSpPr>
            <a:xfrm>
              <a:off x="571500" y="1524000"/>
              <a:ext cx="3476625" cy="4000500"/>
              <a:chOff x="571500" y="1524000"/>
              <a:chExt cx="3476625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09625" y="1762125"/>
                <a:ext cx="5715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8108" y="1829752"/>
                <a:ext cx="2145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Q7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2005" y="2171700"/>
                <a:ext cx="15630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사업다악화 경고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04291" y="2458402"/>
                <a:ext cx="146321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EF4444"/>
                    </a:solidFill>
                    <a:latin typeface="Pretendard"/>
                    <a:ea typeface="Pretendard"/>
                    <a:cs typeface="Pretendard"/>
                  </a:rPr>
                  <a:t>Diworsification 확인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809625" y="27146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03910" y="2926556"/>
                <a:ext cx="21823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역질문 체크 (해당 시 감점):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4291" y="3172778"/>
                <a:ext cx="23429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이 회사가 본업과 전혀 무관한 엉뚱한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4291" y="3382328"/>
                <a:ext cx="242070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유행 기업/첨단 기술 기업을 비싼 값에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4291" y="3591878"/>
                <a:ext cx="29080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인수합병(M&amp;A)하며 돈을 낭비하고 있는가?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62000" y="4000500"/>
                <a:ext cx="309562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99922" y="4133374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DC2626"/>
                    </a:solidFill>
                    <a:latin typeface="Pretendard"/>
                    <a:ea typeface="Pretendard"/>
                    <a:cs typeface="Pretendard"/>
                  </a:rPr>
                  <a:t>💬 피터 린치의 팩폭: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0112" y="4360545"/>
                <a:ext cx="203286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"사업다각화가 아니라 사업다악화다.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00112" y="4551045"/>
                <a:ext cx="226306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엉뚱한 짓을 시작할 때가 매도 시점이다."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762000" y="4953000"/>
                <a:ext cx="30956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156893" y="5077778"/>
                <a:ext cx="2296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 ] 안함(10점) / [ ] 뻘짓중(0점)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352925" y="1524000"/>
              <a:ext cx="3476625" cy="4000500"/>
              <a:chOff x="4352925" y="1524000"/>
              <a:chExt cx="3476625" cy="4000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35292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35292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591050" y="1762125"/>
                <a:ext cx="5715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69533" y="1829752"/>
                <a:ext cx="2145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Q8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83430" y="2171700"/>
                <a:ext cx="16266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부채와 현금 구조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85716" y="2458402"/>
                <a:ext cx="113864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EF4444"/>
                    </a:solidFill>
                    <a:latin typeface="Pretendard"/>
                    <a:ea typeface="Pretendard"/>
                    <a:cs typeface="Pretendard"/>
                  </a:rPr>
                  <a:t>자사주 매입 여력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4591050" y="27146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585335" y="2926556"/>
                <a:ext cx="21823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역질문 체크 (해당 시 감점):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85716" y="3172778"/>
                <a:ext cx="219454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부채비율이 과도하게 높고, 주가가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585716" y="3382328"/>
                <a:ext cx="21167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떨어져도 회사에 자사주를 매입할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585716" y="3591878"/>
                <a:ext cx="205319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순현금 자산이 부족한 상태인가?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4543425" y="4000500"/>
                <a:ext cx="309562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681347" y="4133374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DC2626"/>
                    </a:solidFill>
                    <a:latin typeface="Pretendard"/>
                    <a:ea typeface="Pretendard"/>
                    <a:cs typeface="Pretendard"/>
                  </a:rPr>
                  <a:t>💬 피터 린치의 팩폭: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681538" y="4360545"/>
                <a:ext cx="226306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"부채가 없는 회사는 절대 망하지 않는다.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681538" y="4551045"/>
                <a:ext cx="222671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주당 순현금은 주가의 강력한 바닥이다."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4543425" y="4953000"/>
                <a:ext cx="30956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715690" y="5077778"/>
                <a:ext cx="27415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 ] 현금풍부(10점) / [ ] 부채위험(0점)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143875" y="1524000"/>
              <a:ext cx="3476625" cy="4000500"/>
              <a:chOff x="8143875" y="1524000"/>
              <a:chExt cx="3476625" cy="40005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14387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14387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8382000" y="1762125"/>
                <a:ext cx="5715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560483" y="1829752"/>
                <a:ext cx="2145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Q9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374380" y="2171700"/>
                <a:ext cx="207189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치과의사 추천 (상투)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76666" y="2458402"/>
                <a:ext cx="12202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EF4444"/>
                    </a:solidFill>
                    <a:latin typeface="Pretendard"/>
                    <a:ea typeface="Pretendard"/>
                    <a:cs typeface="Pretendard"/>
                  </a:rPr>
                  <a:t>칵테일 파티 4단계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8382000" y="27146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376285" y="2926556"/>
                <a:ext cx="21823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역질문 체크 (해당 시 감점):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376666" y="3172778"/>
                <a:ext cx="27034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주식을 평소에 안 하던 지인이나 치과의사,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376666" y="3382328"/>
                <a:ext cx="23570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친척이 나에게 "이 종목 대박 난다"며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376666" y="3591878"/>
                <a:ext cx="20107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너도나도 추천해서 매수했는가?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334375" y="4000500"/>
                <a:ext cx="309562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472297" y="4133374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DC2626"/>
                    </a:solidFill>
                    <a:latin typeface="Pretendard"/>
                    <a:ea typeface="Pretendard"/>
                    <a:cs typeface="Pretendard"/>
                  </a:rPr>
                  <a:t>💬 피터 린치의 팩폭: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472488" y="4360545"/>
                <a:ext cx="212373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"치과의사가 종목을 추천하기 시작하면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472488" y="4551045"/>
                <a:ext cx="236604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그 파티는 끝난 것이다. 상투 경고 신호다."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8334375" y="4953000"/>
                <a:ext cx="30956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580850" y="5077778"/>
                <a:ext cx="259315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 ] 본인발굴(10점) / [ ] 남추천(0점)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71500" y="5810250"/>
            <a:ext cx="11049000" cy="476250"/>
            <a:chOff x="571500" y="5810250"/>
            <a:chExt cx="11049000" cy="476250"/>
          </a:xfrm>
        </p:grpSpPr>
        <p:sp>
          <p:nvSpPr>
            <p:cNvPr id="63" name="Rectangle 63"/>
            <p:cNvSpPr/>
            <p:nvPr/>
          </p:nvSpPr>
          <p:spPr>
            <a:xfrm>
              <a:off x="571500" y="58102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7166" y="5992178"/>
              <a:ext cx="5042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4심 총점 : _____ / 30점 (뻘짓 징후가 발견되면 즉시 탈출을 고려하십시오)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9308" y="428625"/>
            <a:ext cx="7725186" cy="1007078"/>
            <a:chOff x="559308" y="428625"/>
            <a:chExt cx="7725186" cy="1007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937" y="494824"/>
              <a:ext cx="9746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5심 : 멘탈 심문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760095"/>
              <a:ext cx="77251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"공포와 탐욕 테스트 (-30% 폭락 시 당신의 행동)"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86339"/>
              <a:ext cx="55741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투자의 성패는 두뇌가 아니라 폭락장을 견디는 배짱과 원칙에서 결정된다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524000"/>
            <a:ext cx="11049000" cy="4000500"/>
            <a:chOff x="571500" y="1524000"/>
            <a:chExt cx="11049000" cy="4000500"/>
          </a:xfrm>
        </p:grpSpPr>
        <p:grpSp>
          <p:nvGrpSpPr>
            <p:cNvPr id="25" name="Group 25"/>
            <p:cNvGrpSpPr/>
            <p:nvPr/>
          </p:nvGrpSpPr>
          <p:grpSpPr>
            <a:xfrm>
              <a:off x="571500" y="1524000"/>
              <a:ext cx="3476625" cy="4000500"/>
              <a:chOff x="571500" y="1524000"/>
              <a:chExt cx="3476625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09625" y="1762125"/>
                <a:ext cx="5715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44983" y="1829752"/>
                <a:ext cx="3007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E5C158"/>
                    </a:solidFill>
                    <a:latin typeface="Pretendard"/>
                    <a:ea typeface="Pretendard"/>
                    <a:cs typeface="Pretendard"/>
                  </a:rPr>
                  <a:t>Q10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2005" y="2171700"/>
                <a:ext cx="17114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-30% 폭락 감내력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04291" y="2458402"/>
                <a:ext cx="13241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바겐세일로 보는가?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809625" y="27146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03910" y="2926556"/>
                <a:ext cx="9101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질문 내용: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4291" y="3172778"/>
                <a:ext cx="22016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내일 당장 시장 급락으로 이 주식이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4291" y="3382328"/>
                <a:ext cx="22157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-30% 폭락해도 패닉에 빠지지 않고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4291" y="3591878"/>
                <a:ext cx="27034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기쁜 마음으로 추가 매수할 확신이 있는가?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62000" y="4000500"/>
                <a:ext cx="309562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99922" y="4133374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피터 린치의 팩폭: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0112" y="4360545"/>
                <a:ext cx="234787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"백화점에서 좋은 물건이 세일하면 사면서,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00112" y="4551045"/>
                <a:ext cx="257807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좋은 주식이 세일할 땐 왜 공포에 떨며 파는가?"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762000" y="4953000"/>
                <a:ext cx="30956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82684" y="5077778"/>
                <a:ext cx="24447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 ] 추가매수(10점) / [ ] 패닉(0점)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352925" y="1524000"/>
              <a:ext cx="3476625" cy="4000500"/>
              <a:chOff x="4352925" y="1524000"/>
              <a:chExt cx="3476625" cy="4000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35292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35292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591050" y="1762125"/>
                <a:ext cx="5715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26408" y="1829752"/>
                <a:ext cx="3007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Q11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83430" y="2171700"/>
                <a:ext cx="18386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기계적 손절매 배제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85716" y="2458402"/>
                <a:ext cx="177684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가격이 아닌 스토리를 보라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4591050" y="27146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585335" y="2926556"/>
                <a:ext cx="9101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질문 내용: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85716" y="3172778"/>
                <a:ext cx="254085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기업의 펀더멘털 스토리가 살아있음에도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585716" y="3382328"/>
                <a:ext cx="23570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단지 -10% 하락했다는 이유로 기계적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585716" y="3591878"/>
                <a:ext cx="186943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손절매를 걸어두지 않았는가?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4543425" y="4000500"/>
                <a:ext cx="309562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681347" y="4133374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피터 린치의 팩폭: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681538" y="4360545"/>
                <a:ext cx="219642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"손절매 주문을 거는 것은 현재 가격보다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681538" y="4551045"/>
                <a:ext cx="234787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싸게 팔겠다고 자진 납세하는 바보짓이다."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4543425" y="4953000"/>
                <a:ext cx="30956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715690" y="5077778"/>
                <a:ext cx="27415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 ] 스토리확인(10점) / [ ] 손절매(0점)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143875" y="1524000"/>
              <a:ext cx="3476625" cy="4000500"/>
              <a:chOff x="8143875" y="1524000"/>
              <a:chExt cx="3476625" cy="40005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143875" y="1524000"/>
                <a:ext cx="3476625" cy="4000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14387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34074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8382000" y="1762125"/>
                <a:ext cx="5715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134074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517358" y="1829752"/>
                <a:ext cx="3007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Q12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374380" y="2171700"/>
                <a:ext cx="23475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시간의 여유 (자금 성격)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76666" y="2458402"/>
                <a:ext cx="17100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당장 필요한 돈이 아닌가?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8382000" y="2714625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376285" y="2926556"/>
                <a:ext cx="9101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7516" indent="-127516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12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질문 내용: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376666" y="3172778"/>
                <a:ext cx="232175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이 주식에 들어간 돈이 향후 3년 이상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376666" y="3382328"/>
                <a:ext cx="26044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전혀 쓸 일이 없는 순수한 여유 자금인가?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376666" y="3591878"/>
                <a:ext cx="21874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(학자금, 전세금, 빚투 자금 배제)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334375" y="4000500"/>
                <a:ext cx="3095625" cy="809625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472297" y="4133374"/>
                <a:ext cx="12502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💬 피터 린치의 팩폭: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472488" y="4360545"/>
                <a:ext cx="182689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"시간에 쫓기는 돈으로 투자하면,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472488" y="4551045"/>
                <a:ext cx="226306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가장 최악의 바닥에서 주식을 팔게 된다."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8334375" y="4953000"/>
                <a:ext cx="30956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580850" y="5077778"/>
                <a:ext cx="259315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[ ] 여유자금(10점) / [ ] 급한돈(0점)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71500" y="5810250"/>
            <a:ext cx="11049000" cy="476250"/>
            <a:chOff x="571500" y="5810250"/>
            <a:chExt cx="11049000" cy="476250"/>
          </a:xfrm>
        </p:grpSpPr>
        <p:sp>
          <p:nvSpPr>
            <p:cNvPr id="63" name="Rectangle 63"/>
            <p:cNvSpPr/>
            <p:nvPr/>
          </p:nvSpPr>
          <p:spPr>
            <a:xfrm>
              <a:off x="571500" y="58102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7166" y="5992178"/>
              <a:ext cx="46339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5심 총점 : _____ / 30점 (급한 돈으로 투자했다면 0점 처리하십시오)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9308" y="428625"/>
            <a:ext cx="6832797" cy="1007078"/>
            <a:chOff x="559308" y="428625"/>
            <a:chExt cx="6832797" cy="1007078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40683" y="494824"/>
              <a:ext cx="11951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최종 선고 매트릭스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9308" y="760095"/>
              <a:ext cx="65887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피터 린치의 최종 선고: 점수대별 행동 지침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86339"/>
              <a:ext cx="68270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청문회 총점(100점 만점)에 따라 냉정하게 매수, 보유, 교체 매매, 즉시 손절을 집행하라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1524000"/>
            <a:ext cx="11049000" cy="4619625"/>
            <a:chOff x="571500" y="1524000"/>
            <a:chExt cx="11049000" cy="4619625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524000"/>
              <a:ext cx="11049000" cy="1047750"/>
              <a:chOff x="571500" y="1524000"/>
              <a:chExt cx="11049000" cy="1047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11049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EF9C3"/>
              </a:solidFill>
              <a:ln w="14288">
                <a:solidFill>
                  <a:srgbClr val="FDE047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7620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CA8A04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57250" y="1714500"/>
                <a:ext cx="13335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CA8A04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28686" y="1802606"/>
                <a:ext cx="79062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90 ~ 100점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373630" y="1781175"/>
                <a:ext cx="32678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854D0E"/>
                    </a:solidFill>
                    <a:latin typeface="Pretendard"/>
                    <a:ea typeface="Pretendard"/>
                    <a:cs typeface="Pretendard"/>
                  </a:rPr>
                  <a:t>💎 10루타(Ten-Bagger) 후보 확정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51535" y="2212181"/>
                <a:ext cx="153007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⚖️ 피터 린치의 선고: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280285" y="2212181"/>
                <a:ext cx="753837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"단기 주가 출렁임과 시장 소음에 귀를 닫아라. 기업의 기본 성장 스토리가 훼손되지 않는 한 끝까지 동행하라."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10191750" y="1857375"/>
                <a:ext cx="1143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CA8A04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101164" y="1982152"/>
                <a:ext cx="13241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강력 보유/추가매수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71500" y="2714625"/>
              <a:ext cx="11049000" cy="1047750"/>
              <a:chOff x="571500" y="2714625"/>
              <a:chExt cx="11049000" cy="1047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71500" y="2714625"/>
                <a:ext cx="11049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DCFCE7"/>
              </a:solidFill>
              <a:ln w="14288">
                <a:solidFill>
                  <a:srgbClr val="86EFAC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71500" y="2714625"/>
                <a:ext cx="7620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857250" y="2905125"/>
                <a:ext cx="13335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72417" y="2993231"/>
                <a:ext cx="7031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70 ~ 89점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373630" y="2971800"/>
                <a:ext cx="2135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🛡️ 든든한 우량 방어주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1535" y="3402806"/>
                <a:ext cx="153007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⚖️ 피터 린치의 선고: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280285" y="3402806"/>
                <a:ext cx="81290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"포트폴리오의 안정적 기둥이다. 30~50% 상승하여 적정 가치에 도달하면 다른 소외된 우량주로 교체 매매를 검토하라."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10191750" y="3048000"/>
                <a:ext cx="1143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227320" y="3172778"/>
                <a:ext cx="10718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보유 &amp; 교체매매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71500" y="3905250"/>
              <a:ext cx="11049000" cy="1047750"/>
              <a:chOff x="571500" y="3905250"/>
              <a:chExt cx="11049000" cy="1047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3905250"/>
                <a:ext cx="11049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EF3C7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571500" y="3905250"/>
                <a:ext cx="7620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857250" y="4095750"/>
                <a:ext cx="13335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172417" y="4183856"/>
                <a:ext cx="7031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50 ~ 69점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373630" y="4162425"/>
                <a:ext cx="3132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92400E"/>
                    </a:solidFill>
                    <a:latin typeface="Pretendard"/>
                    <a:ea typeface="Pretendard"/>
                    <a:cs typeface="Pretendard"/>
                  </a:rPr>
                  <a:t>⚠️ 위험 관찰 대상 (스토리 점검)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51535" y="4593431"/>
                <a:ext cx="153007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⚖️ 피터 린치의 선고: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280285" y="4593431"/>
                <a:ext cx="77731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"처음 매수했던 이유가 퇴색되고 있다. 분기 실적 보고서와 부채 구조, 신규 경쟁자 진입 여부를 즉각 재심사하라."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10191750" y="4238625"/>
                <a:ext cx="1143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268135" y="4363402"/>
                <a:ext cx="9902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비중 축소 검토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71500" y="5095875"/>
              <a:ext cx="11049000" cy="1047750"/>
              <a:chOff x="571500" y="5095875"/>
              <a:chExt cx="11049000" cy="10477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71500" y="5095875"/>
                <a:ext cx="11049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EE2E2"/>
              </a:solidFill>
              <a:ln w="14288">
                <a:solidFill>
                  <a:srgbClr val="FCA5A5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571500" y="5095875"/>
                <a:ext cx="76200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857250" y="5286375"/>
                <a:ext cx="13335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168441" y="5374481"/>
                <a:ext cx="71111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12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50점 미만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373630" y="5353050"/>
                <a:ext cx="23157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991B1B"/>
                    </a:solidFill>
                    <a:latin typeface="Pretendard"/>
                    <a:ea typeface="Pretendard"/>
                    <a:cs typeface="Pretendard"/>
                  </a:rPr>
                  <a:t>🚨 즉시 탈출 (도박 경고)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51535" y="5784056"/>
                <a:ext cx="153007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⚖️ 피터 린치의 선고: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280285" y="5784056"/>
                <a:ext cx="786398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"당신은 투자를 한 것이 아니라 카지노 도박을 했다. 남의 말만 듣고 산 쓰레기 주식이다. 미련 없이 전량 매도하라."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10191750" y="5429250"/>
                <a:ext cx="1143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268135" y="5554028"/>
                <a:ext cx="9902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0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즉시 전량 매도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60070" y="333375"/>
            <a:ext cx="7863840" cy="936784"/>
            <a:chOff x="560070" y="333375"/>
            <a:chExt cx="7863840" cy="936784"/>
          </a:xfrm>
        </p:grpSpPr>
        <p:sp>
          <p:nvSpPr>
            <p:cNvPr id="3" name="Rectangle 3"/>
            <p:cNvSpPr/>
            <p:nvPr/>
          </p:nvSpPr>
          <p:spPr>
            <a:xfrm>
              <a:off x="571500" y="333375"/>
              <a:ext cx="1428750" cy="247650"/>
            </a:xfrm>
            <a:prstGeom prst="roundRect">
              <a:avLst>
                <a:gd name="adj" fmla="val 50000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7217" y="399574"/>
              <a:ext cx="10573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실전 자가 채점표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681038"/>
              <a:ext cx="78638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나의 종목 청문회 실전 채점표 (Printable Worksheet)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785" y="1050131"/>
              <a:ext cx="5524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파워포인트에서 직접 입력하거나 인쇄하여 내 보유 종목을 냉정하게 채점하십시오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285875"/>
            <a:ext cx="11049000" cy="523875"/>
            <a:chOff x="571500" y="1285875"/>
            <a:chExt cx="11049000" cy="523875"/>
          </a:xfrm>
        </p:grpSpPr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523875"/>
            </a:xfrm>
            <a:prstGeom prst="roundRect">
              <a:avLst>
                <a:gd name="adj" fmla="val 14545"/>
              </a:avLst>
            </a:prstGeom>
            <a:solidFill>
              <a:srgbClr val="F4F6F9"/>
            </a:solidFill>
            <a:ln w="14288">
              <a:solidFill>
                <a:srgbClr val="0B254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529" y="1480185"/>
              <a:ext cx="14454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진단 대상 종목명 :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90750" y="1400175"/>
              <a:ext cx="2095500" cy="304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80666" y="1496378"/>
              <a:ext cx="1678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94A3B8"/>
                  </a:solidFill>
                  <a:latin typeface="Pretendard"/>
                  <a:ea typeface="Pretendard"/>
                  <a:cs typeface="Pretendard"/>
                </a:rPr>
                <a:t>(예: 삼성전자, 에코프로)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65904" y="148018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1심 기업 유형 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0" y="1400175"/>
              <a:ext cx="2095500" cy="304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04916" y="1496378"/>
              <a:ext cx="1784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94A3B8"/>
                  </a:solidFill>
                  <a:latin typeface="Pretendard"/>
                  <a:ea typeface="Pretendard"/>
                  <a:cs typeface="Pretendard"/>
                </a:rPr>
                <a:t>(고성장주 / 대형우량주 등)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90154" y="1480185"/>
              <a:ext cx="14454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청문회 진단 일자 :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429750" y="1400175"/>
              <a:ext cx="1952625" cy="304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567291" y="1496378"/>
              <a:ext cx="6820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Pretendard"/>
                  <a:ea typeface="Pretendard"/>
                  <a:cs typeface="Pretendard"/>
                </a:rPr>
                <a:t>2026 . . .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71500" y="1952625"/>
            <a:ext cx="11049000" cy="3581400"/>
            <a:chOff x="571500" y="1952625"/>
            <a:chExt cx="11049000" cy="3581400"/>
          </a:xfrm>
        </p:grpSpPr>
        <p:sp>
          <p:nvSpPr>
            <p:cNvPr id="19" name="Rectangle 19"/>
            <p:cNvSpPr/>
            <p:nvPr/>
          </p:nvSpPr>
          <p:spPr>
            <a:xfrm>
              <a:off x="571500" y="1952625"/>
              <a:ext cx="11049000" cy="333375"/>
            </a:xfrm>
            <a:prstGeom prst="roundRect">
              <a:avLst>
                <a:gd name="adj" fmla="val 11429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1916" y="20583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166" y="2058352"/>
              <a:ext cx="1865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심문 항목 및 핵심 검증 기준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86166" y="20583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38666" y="2058352"/>
              <a:ext cx="841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체크 (0~10)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72166" y="2058352"/>
              <a:ext cx="648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자가 채점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571500" y="2314575"/>
              <a:ext cx="11049000" cy="304800"/>
              <a:chOff x="571500" y="2314575"/>
              <a:chExt cx="11049000" cy="3048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71500" y="2314575"/>
                <a:ext cx="11049000" cy="3048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04672" y="2409349"/>
                <a:ext cx="2235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2심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709547" y="2409349"/>
                <a:ext cx="479450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Q1. 크레용 테스트: 아이에게 2분 안에 사업 구조를 그림으로 설명 가능한가?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34172" y="2409349"/>
                <a:ext cx="2993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234488" y="2417445"/>
                <a:ext cx="6577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[ ] 10 [ ] 0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663047" y="2409349"/>
                <a:ext cx="4922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____ 점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71500" y="2638425"/>
              <a:ext cx="11049000" cy="304800"/>
              <a:chOff x="571500" y="2638425"/>
              <a:chExt cx="11049000" cy="3048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71500" y="2638425"/>
                <a:ext cx="11049000" cy="304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04672" y="2733199"/>
                <a:ext cx="2235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2심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709547" y="2733199"/>
                <a:ext cx="496785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Q2. 현장 경험: 본인/가족/동료가 열광하며 매장에 줄 서는 모습을 확인했는가?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234172" y="2733199"/>
                <a:ext cx="2993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234488" y="2741295"/>
                <a:ext cx="6577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[ ] 10 [ ] 0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663047" y="2733199"/>
                <a:ext cx="4922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____ 점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2962275"/>
              <a:ext cx="11049000" cy="304800"/>
              <a:chOff x="571500" y="2962275"/>
              <a:chExt cx="11049000" cy="3048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71500" y="2962275"/>
                <a:ext cx="11049000" cy="3048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04672" y="3057049"/>
                <a:ext cx="2235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2심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709547" y="3057049"/>
                <a:ext cx="451713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Q3. 소외 선점: 신문 1면과 유튜브에 도배되기 전 소외될 때 발굴했는가?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34172" y="3057049"/>
                <a:ext cx="2993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234488" y="3065145"/>
                <a:ext cx="6577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[ ] 10 [ ] 0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663047" y="3057049"/>
                <a:ext cx="4922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____ 점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71500" y="3286125"/>
              <a:ext cx="11049000" cy="304800"/>
              <a:chOff x="571500" y="3286125"/>
              <a:chExt cx="11049000" cy="3048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3286125"/>
                <a:ext cx="11049000" cy="304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04672" y="3380899"/>
                <a:ext cx="2235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3심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709547" y="3380899"/>
                <a:ext cx="47528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Q4. 복제력: 한 매장의 성공 공식을 전국/글로벌로 동일하게 복제 가능한가?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234172" y="3380899"/>
                <a:ext cx="2993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234488" y="3388995"/>
                <a:ext cx="6577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[ ] 10 [ ] 0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663047" y="3380899"/>
                <a:ext cx="4922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____ 점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571500" y="3609975"/>
              <a:ext cx="11049000" cy="304800"/>
              <a:chOff x="571500" y="3609975"/>
              <a:chExt cx="11049000" cy="3048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571500" y="3609975"/>
                <a:ext cx="11049000" cy="3048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04672" y="3704749"/>
                <a:ext cx="2235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3심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709547" y="3704749"/>
                <a:ext cx="448246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Q5. PEG 비율: PER을 이익성장률로 나눈 PEG가 1.0 이하로 저평가인가?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234172" y="3704749"/>
                <a:ext cx="2993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234488" y="3712845"/>
                <a:ext cx="6577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[ ] 10 [ ] 0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0663047" y="3704749"/>
                <a:ext cx="4922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____ 점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571500" y="3933825"/>
              <a:ext cx="11049000" cy="304800"/>
              <a:chOff x="571500" y="3933825"/>
              <a:chExt cx="11049000" cy="3048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571500" y="3933825"/>
                <a:ext cx="11049000" cy="304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04672" y="4028599"/>
                <a:ext cx="2235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3심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709547" y="4028599"/>
                <a:ext cx="47598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Q6. 기관 미보유: 애널리스트 분석이 적고 기관 비중이 낮아 유입 여력 큰가?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234172" y="4028599"/>
                <a:ext cx="2993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234488" y="4036695"/>
                <a:ext cx="6577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[ ] 10 [ ] 0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663047" y="4028599"/>
                <a:ext cx="4922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____ 점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571500" y="4257675"/>
              <a:ext cx="11049000" cy="304800"/>
              <a:chOff x="571500" y="4257675"/>
              <a:chExt cx="11049000" cy="3048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571500" y="4257675"/>
                <a:ext cx="11049000" cy="3048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804672" y="4352449"/>
                <a:ext cx="2235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4심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709547" y="4352449"/>
                <a:ext cx="40594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Q7. 사업다악화 부재: 본업과 무관한 엉뚱한 M&amp;A 낭비가 없는가?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234172" y="4352449"/>
                <a:ext cx="2993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234488" y="4360545"/>
                <a:ext cx="6577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[ ] 10 [ ] 0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0663047" y="4352449"/>
                <a:ext cx="4922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____ 점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571500" y="4581525"/>
              <a:ext cx="11049000" cy="304800"/>
              <a:chOff x="571500" y="4581525"/>
              <a:chExt cx="11049000" cy="30480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571500" y="4581525"/>
                <a:ext cx="11049000" cy="304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804672" y="4676299"/>
                <a:ext cx="2235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4심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1709547" y="4676299"/>
                <a:ext cx="408028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Q8. 재무 건전성: 순현금이 풍부하고 과도한 부채 위험이 없는가?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8234172" y="4676299"/>
                <a:ext cx="2993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234488" y="4684395"/>
                <a:ext cx="6577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[ ] 10 [ ] 0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0663047" y="4676299"/>
                <a:ext cx="4922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____ 점</a:t>
                </a: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571500" y="4905375"/>
              <a:ext cx="11049000" cy="304800"/>
              <a:chOff x="571500" y="4905375"/>
              <a:chExt cx="11049000" cy="3048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571500" y="4905375"/>
                <a:ext cx="11049000" cy="3048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04672" y="5000149"/>
                <a:ext cx="2235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5심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1709547" y="5000149"/>
                <a:ext cx="481530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Q9. 폭락장 감내: 내일 -30% 폭락해도 공포 없이 추가 매수할 확신이 있는가?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234172" y="5000149"/>
                <a:ext cx="2993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9234488" y="5008245"/>
                <a:ext cx="6577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[ ] 10 [ ] 0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10663047" y="5000149"/>
                <a:ext cx="4922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____ 점</a:t>
                </a: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571500" y="5229225"/>
              <a:ext cx="11049000" cy="304800"/>
              <a:chOff x="571500" y="5229225"/>
              <a:chExt cx="11049000" cy="304800"/>
            </a:xfrm>
          </p:grpSpPr>
          <p:sp>
            <p:nvSpPr>
              <p:cNvPr id="88" name="Rectangle 88"/>
              <p:cNvSpPr/>
              <p:nvPr/>
            </p:nvSpPr>
            <p:spPr>
              <a:xfrm>
                <a:off x="571500" y="5229225"/>
                <a:ext cx="11049000" cy="304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804672" y="5323999"/>
                <a:ext cx="2235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5심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709547" y="5323999"/>
                <a:ext cx="435764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Q10. 여유 자금: 3년 이상 쓸 일 없는 순수 여유 자금으로 매수했는가?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8234172" y="5323999"/>
                <a:ext cx="2993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10점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9234488" y="5332095"/>
                <a:ext cx="65772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[ ] 10 [ ] 0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10663047" y="5323999"/>
                <a:ext cx="4922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____ 점</a:t>
                </a:r>
              </a:p>
            </p:txBody>
          </p:sp>
        </p:grpSp>
      </p:grpSp>
      <p:grpSp>
        <p:nvGrpSpPr>
          <p:cNvPr id="104" name="Group 104"/>
          <p:cNvGrpSpPr/>
          <p:nvPr/>
        </p:nvGrpSpPr>
        <p:grpSpPr>
          <a:xfrm>
            <a:off x="571500" y="5715000"/>
            <a:ext cx="11049000" cy="809625"/>
            <a:chOff x="571500" y="5715000"/>
            <a:chExt cx="11049000" cy="809625"/>
          </a:xfrm>
        </p:grpSpPr>
        <p:sp>
          <p:nvSpPr>
            <p:cNvPr id="96" name="Rectangle 96"/>
            <p:cNvSpPr/>
            <p:nvPr/>
          </p:nvSpPr>
          <p:spPr>
            <a:xfrm>
              <a:off x="571500" y="5715000"/>
              <a:ext cx="11049000" cy="809625"/>
            </a:xfrm>
            <a:prstGeom prst="roundRect">
              <a:avLst>
                <a:gd name="adj" fmla="val 11765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571500" y="5715000"/>
              <a:ext cx="76200" cy="809625"/>
            </a:xfrm>
            <a:prstGeom prst="roundRect">
              <a:avLst>
                <a:gd name="adj" fmla="val 50000"/>
              </a:avLst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98779" y="5928360"/>
              <a:ext cx="14454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최종 청문회 총점 :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2419731" y="5882640"/>
              <a:ext cx="19646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_______ / 100점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851654" y="5928360"/>
              <a:ext cx="2225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피터 린치의 최종 선고 판정 :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7048500" y="5867400"/>
              <a:ext cx="4286250" cy="323850"/>
            </a:xfrm>
            <a:prstGeom prst="roundRect">
              <a:avLst>
                <a:gd name="adj" fmla="val 17647"/>
              </a:avLst>
            </a:prstGeom>
            <a:solidFill>
              <a:srgbClr val="134074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7185660" y="5955506"/>
              <a:ext cx="36847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[ ] 10루타 후보 [ ] 우량방어 [ ] 관찰 [ ] 즉시손절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99922" y="6257449"/>
              <a:ext cx="50763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>※ 50점 미만 종목은 시장에 관계없이 즉시 매도하여 자산을 보호하십시오. (피터 린치)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2026-08-17T01:12:18Z</dcterms:created>
  <dcterms:modified xsi:type="dcterms:W3CDTF">2026-08-17T01:12:18Z</dcterms:modified>
  <cp:category/>
  <cp:contentStatus/>
</cp:coreProperties>
</file>