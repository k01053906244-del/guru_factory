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2545"/>
            </a:gs>
            <a:gs pos="100000">
              <a:srgbClr val="0717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C59B27"/>
              </a:gs>
              <a:gs pos="100000">
                <a:srgbClr val="E5C158"/>
              </a:gs>
            </a:gsLst>
            <a:lin ang="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191500" y="-2095500"/>
            <a:ext cx="6096000" cy="6096000"/>
          </a:xfrm>
          <a:prstGeom prst="ellipse">
            <a:avLst/>
          </a:prstGeom>
          <a:solidFill>
            <a:srgbClr val="134074">
              <a:alpha val="1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144000" y="-1143000"/>
            <a:ext cx="4191000" cy="4191000"/>
          </a:xfrm>
          <a:prstGeom prst="ellipse">
            <a:avLst/>
          </a:prstGeom>
          <a:solidFill>
            <a:srgbClr val="C59B27">
              <a:alpha val="8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33450" y="1333500"/>
            <a:ext cx="7258050" cy="4330637"/>
            <a:chOff x="933450" y="1333500"/>
            <a:chExt cx="7258050" cy="4330637"/>
          </a:xfrm>
        </p:grpSpPr>
        <p:sp>
          <p:nvSpPr>
            <p:cNvPr id="5" name="Rectangle 5"/>
            <p:cNvSpPr/>
            <p:nvPr/>
          </p:nvSpPr>
          <p:spPr>
            <a:xfrm>
              <a:off x="952500" y="133350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134074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94989" y="1423035"/>
              <a:ext cx="201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ONE UP ON WALL STREET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3450" y="1910715"/>
              <a:ext cx="358358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800" b="1" spc="-75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월가의 영웅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762250"/>
              <a:ext cx="762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59B27"/>
                </a:gs>
                <a:gs pos="100000">
                  <a:srgbClr val="E5C15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308" y="3074670"/>
              <a:ext cx="71145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4F6F9"/>
                  </a:solidFill>
                  <a:latin typeface="Pretendard"/>
                  <a:ea typeface="Pretendard"/>
                  <a:cs typeface="Pretendard"/>
                </a:rPr>
                <a:t>피터 린치의 상식으로 이기는 10루타 투자 전략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810000"/>
              <a:ext cx="7239000" cy="857250"/>
            </a:xfrm>
            <a:prstGeom prst="roundRect">
              <a:avLst>
                <a:gd name="adj" fmla="val 13333"/>
              </a:avLst>
            </a:prstGeom>
            <a:solidFill>
              <a:srgbClr val="134074">
                <a:alpha val="60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3810000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0630" y="4029075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"전문가보다 일상 속 경험과 상식이 앞선다."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2154" y="4347210"/>
              <a:ext cx="5302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전설적 펀드매니저 피터 린치의 13년간 연평균 29.2% 수익률 실전 바이블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46404" y="5204460"/>
              <a:ext cx="4374246" cy="459677"/>
              <a:chOff x="946404" y="5204460"/>
              <a:chExt cx="4374246" cy="45967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946404" y="5204460"/>
                <a:ext cx="4374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dirty="0">
                    <a:solidFill>
                      <a:srgbClr val="8E9AA8"/>
                    </a:solidFill>
                    <a:latin typeface="Pretendard"/>
                    <a:ea typeface="Pretendard"/>
                    <a:cs typeface="Pretendard"/>
                  </a:rPr>
                  <a:t>피터 린치(Peter Lynch) 핵심 투자 철학 요약 프레젠테이션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7166" y="5458778"/>
                <a:ext cx="34030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마젤란 펀드 실전 성공 원칙 | 가치 성장주 발굴 가이드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8572500" y="2095500"/>
            <a:ext cx="2667000" cy="3524250"/>
            <a:chOff x="8572500" y="2095500"/>
            <a:chExt cx="2667000" cy="3524250"/>
          </a:xfrm>
        </p:grpSpPr>
        <p:sp>
          <p:nvSpPr>
            <p:cNvPr id="18" name="Rectangle 18"/>
            <p:cNvSpPr/>
            <p:nvPr/>
          </p:nvSpPr>
          <p:spPr>
            <a:xfrm>
              <a:off x="8572500" y="2095500"/>
              <a:ext cx="2667000" cy="1047750"/>
            </a:xfrm>
            <a:prstGeom prst="roundRect">
              <a:avLst>
                <a:gd name="adj" fmla="val 10909"/>
              </a:avLst>
            </a:prstGeom>
            <a:solidFill>
              <a:srgbClr val="134074">
                <a:alpha val="40000"/>
              </a:srgbClr>
            </a:solidFill>
            <a:ln w="9525">
              <a:solidFill>
                <a:srgbClr val="1E4D82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5766" y="23631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마젤란 펀드 13년 수익률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87384" y="2613660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2,703%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33279" y="2747010"/>
              <a:ext cx="733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10B981"/>
                  </a:solidFill>
                  <a:latin typeface="Pretendard"/>
                  <a:ea typeface="Pretendard"/>
                  <a:cs typeface="Pretendard"/>
                </a:rPr>
                <a:t>연 29.2%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0" y="3333750"/>
              <a:ext cx="2667000" cy="1047750"/>
            </a:xfrm>
            <a:prstGeom prst="roundRect">
              <a:avLst>
                <a:gd name="adj" fmla="val 10909"/>
              </a:avLst>
            </a:prstGeom>
            <a:solidFill>
              <a:srgbClr val="134074">
                <a:alpha val="40000"/>
              </a:srgbClr>
            </a:solidFill>
            <a:ln w="9525">
              <a:solidFill>
                <a:srgbClr val="1E4D82">
                  <a:alpha val="4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95766" y="360140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핵심 투자 철학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90432" y="3916680"/>
              <a:ext cx="15045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10-Bagger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1166" y="4010978"/>
              <a:ext cx="929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(10루타 종목)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2500" y="4572000"/>
              <a:ext cx="2667000" cy="1047750"/>
            </a:xfrm>
            <a:prstGeom prst="roundRect">
              <a:avLst>
                <a:gd name="adj" fmla="val 10909"/>
              </a:avLst>
            </a:prstGeom>
            <a:solidFill>
              <a:srgbClr val="134074">
                <a:alpha val="40000"/>
              </a:srgbClr>
            </a:solidFill>
            <a:ln w="9525">
              <a:solidFill>
                <a:srgbClr val="1E4D82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95766" y="483965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투자 성공 방정식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92718" y="5174932"/>
              <a:ext cx="1987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상식 + 철저한 조사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8546" y="428625"/>
            <a:ext cx="9000990" cy="1013650"/>
            <a:chOff x="558546" y="428625"/>
            <a:chExt cx="9000990" cy="1013650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36262" y="494824"/>
              <a:ext cx="1203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PART 1. 투자 철학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743902"/>
              <a:ext cx="90009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상식의 위력: 왜 아마추어가 월가 전문가보다 유리한가?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178242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전문 기관보다 일상생활 속 경험과 관찰에서 위대한 투자 아이디어가 먼저 발견된다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666875"/>
            <a:ext cx="11049000" cy="3619500"/>
            <a:chOff x="571500" y="1666875"/>
            <a:chExt cx="11049000" cy="361950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666875"/>
              <a:ext cx="3737494" cy="3619500"/>
              <a:chOff x="571500" y="1666875"/>
              <a:chExt cx="3737494" cy="3619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666875"/>
                <a:ext cx="3476625" cy="3619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666875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790575" y="1914525"/>
                <a:ext cx="419100" cy="419100"/>
              </a:xfrm>
              <a:prstGeom prst="ellipse">
                <a:avLst/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88314" y="204501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25118" y="2003108"/>
                <a:ext cx="18592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일상 속 관찰의 힘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09625" y="24765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3529" y="2727960"/>
                <a:ext cx="21667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•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소비자의 눈으로 직접 확인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3910" y="2993231"/>
                <a:ext cx="27602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가족, 쇼핑몰, 병원, 직장에서 인기 있는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3910" y="3202781"/>
                <a:ext cx="2313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제품과 기업을 누구보다 먼저 체감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3529" y="3632835"/>
                <a:ext cx="1437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•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현장 경험의 우위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3910" y="3898106"/>
                <a:ext cx="22679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재무제표 숫자보다 고객 만족도와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3910" y="4107656"/>
                <a:ext cx="24043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매장 내 붐비는 줄이 가장 빠른 지표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762000" y="4572000"/>
                <a:ext cx="3095625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99541" y="4753928"/>
                <a:ext cx="34094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💡 피터 린치 사모님의 던킨도너츠·레그스 발견 사례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352925" y="1666875"/>
              <a:ext cx="3726012" cy="3619500"/>
              <a:chOff x="4352925" y="1666875"/>
              <a:chExt cx="3726012" cy="3619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352925" y="1666875"/>
                <a:ext cx="3476625" cy="3619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52925" y="1666875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4572000" y="1914525"/>
                <a:ext cx="419100" cy="419100"/>
              </a:xfrm>
              <a:prstGeom prst="ellipse">
                <a:avLst/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669739" y="204501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02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106543" y="2003108"/>
                <a:ext cx="20225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기관의 구조적 한계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4591050" y="24765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584954" y="2727960"/>
                <a:ext cx="17765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•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관료주의와 보고 체계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85335" y="2993231"/>
                <a:ext cx="30100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월가 펀드매니저는 실패 시 해고 위험 때문에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85335" y="3202781"/>
                <a:ext cx="24648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이미 유명한 대형주만 매수하는 경향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84954" y="3632835"/>
                <a:ext cx="1437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•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단기 수익률 압박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85335" y="3898106"/>
                <a:ext cx="21619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분기별 실적 평가로 인해 진정한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5335" y="4107656"/>
                <a:ext cx="21619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장기 가치 성장을 기다리지 못함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543425" y="4572000"/>
                <a:ext cx="3095625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680966" y="4753928"/>
                <a:ext cx="33979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EF4444"/>
                    </a:solidFill>
                    <a:latin typeface="Pretendard"/>
                    <a:ea typeface="Pretendard"/>
                    <a:cs typeface="Pretendard"/>
                  </a:rPr>
                  <a:t>⚠️ "IBM을 사서 실패하면 아무도 탓하지 않는다"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143875" y="1666875"/>
              <a:ext cx="3476625" cy="3619500"/>
              <a:chOff x="8143875" y="1666875"/>
              <a:chExt cx="3476625" cy="3619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143875" y="1666875"/>
                <a:ext cx="3476625" cy="3619500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143875" y="1666875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8362950" y="1914525"/>
                <a:ext cx="419100" cy="419100"/>
              </a:xfrm>
              <a:prstGeom prst="ellipse">
                <a:avLst/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460689" y="204501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03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897493" y="2003108"/>
                <a:ext cx="178930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아는 것에만 투자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382000" y="24765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375904" y="2727960"/>
                <a:ext cx="1606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•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비즈니스 모델 이해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376285" y="2993231"/>
                <a:ext cx="24648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크레용으로 아이에게 설명할 수 없는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76285" y="3202781"/>
                <a:ext cx="23512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복잡한 기술주/테마주는 매수 금지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75904" y="3632835"/>
                <a:ext cx="17765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•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확신이 만드는 인내심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76285" y="3898106"/>
                <a:ext cx="22679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사업의 본질을 완벽히 이해해야만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6285" y="4107656"/>
                <a:ext cx="28132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주가 출렁임에도 흔들리지 않고 보유 가능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334375" y="4572000"/>
                <a:ext cx="3095625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471916" y="4753928"/>
                <a:ext cx="28974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✅ "자신이 잘 아는 분야가 최고의 승부처다"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5524500"/>
            <a:ext cx="11049000" cy="714375"/>
            <a:chOff x="571500" y="5524500"/>
            <a:chExt cx="11049000" cy="714375"/>
          </a:xfrm>
        </p:grpSpPr>
        <p:sp>
          <p:nvSpPr>
            <p:cNvPr id="54" name="Rectangle 54"/>
            <p:cNvSpPr/>
            <p:nvPr/>
          </p:nvSpPr>
          <p:spPr>
            <a:xfrm>
              <a:off x="571500" y="5524500"/>
              <a:ext cx="11049000" cy="714375"/>
            </a:xfrm>
            <a:prstGeom prst="roundRect">
              <a:avLst>
                <a:gd name="adj" fmla="val 13333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6785" y="5736431"/>
              <a:ext cx="1111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KEY TAKEAWAY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642" y="5931218"/>
              <a:ext cx="8266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"당신이 전문가보다 먼저 유망한 기업을 발견할 확률은 매일 마주치는 일상 속에 항상 존재한다."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5476" y="428625"/>
            <a:ext cx="7960747" cy="1013650"/>
            <a:chOff x="535476" y="428625"/>
            <a:chExt cx="7960747" cy="1013650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476375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35476" y="494824"/>
              <a:ext cx="1538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PART 1. 투자 자격 진단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743902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주식 매수 전 반드시 통과해야 할 3가지 자격 질문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178242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투자를 시작하기 전 자신의 재정 상태와 심리적 자질을 객관적으로 점검해야 한다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1666875"/>
            <a:ext cx="11049000" cy="3762375"/>
            <a:chOff x="571500" y="1666875"/>
            <a:chExt cx="11049000" cy="3762375"/>
          </a:xfrm>
        </p:grpSpPr>
        <p:grpSp>
          <p:nvGrpSpPr>
            <p:cNvPr id="23" name="Group 23"/>
            <p:cNvGrpSpPr/>
            <p:nvPr/>
          </p:nvGrpSpPr>
          <p:grpSpPr>
            <a:xfrm>
              <a:off x="571500" y="1666875"/>
              <a:ext cx="3476625" cy="3762375"/>
              <a:chOff x="571500" y="1666875"/>
              <a:chExt cx="3476625" cy="37623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666875"/>
                <a:ext cx="3476625" cy="3762375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666875"/>
                <a:ext cx="3476625" cy="7620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09625" y="1952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30097" y="2031206"/>
                <a:ext cx="61630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CHECK 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0481" y="2406015"/>
                <a:ext cx="183747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내 집이 있는가?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3910" y="2736056"/>
                <a:ext cx="18560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부동산이 주식보다 먼저다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09625" y="30480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3529" y="3251835"/>
                <a:ext cx="1606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심리적 안전판 확보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3910" y="3507581"/>
                <a:ext cx="2510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내 집이 주는 주거 안정성이 있어야만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3910" y="3717131"/>
                <a:ext cx="23588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주식 시장의 급락에도 버틸 수 있음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3529" y="4156710"/>
                <a:ext cx="17765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훌륭한 레버리지 투자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3910" y="4412456"/>
                <a:ext cx="261632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집값은 매일 시세를 확인하지 않으므로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03910" y="4622006"/>
                <a:ext cx="2313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공포에 의한 뇌동매매를 하지 않음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4981575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94196" y="5076349"/>
                <a:ext cx="24217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부동산 성공 경험이 주식 성공의 밑거름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352925" y="1666875"/>
              <a:ext cx="3476625" cy="3762375"/>
              <a:chOff x="4352925" y="1666875"/>
              <a:chExt cx="3476625" cy="376237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52925" y="1666875"/>
                <a:ext cx="3476625" cy="3762375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52925" y="1666875"/>
                <a:ext cx="3476625" cy="7620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591050" y="1952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711522" y="2031206"/>
                <a:ext cx="61630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CHECK 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81906" y="2406015"/>
                <a:ext cx="20919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곧 필요한 돈인가?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85335" y="2736056"/>
                <a:ext cx="21104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시간적 여유가 있는 여유 자금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591050" y="30480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584954" y="3251835"/>
                <a:ext cx="1437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강제 매도의 위험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85335" y="3507581"/>
                <a:ext cx="23740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자녀 학자금, 결혼 자금, 전세금 등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85335" y="3717131"/>
                <a:ext cx="25481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2~3년 내 써야 할 돈은 주식 투자 금지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4954" y="4156710"/>
                <a:ext cx="1437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시간의 우위 활용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85335" y="4412456"/>
                <a:ext cx="21165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주식 시장은 결국 우상향하지만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85335" y="4622006"/>
                <a:ext cx="26617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단기 예측은 불가능하여 손실 확정 위험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543425" y="4981575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EE2E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579314" y="5076349"/>
                <a:ext cx="3014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DC2626"/>
                    </a:solidFill>
                    <a:latin typeface="Pretendard"/>
                    <a:ea typeface="Pretendard"/>
                    <a:cs typeface="Pretendard"/>
                  </a:rPr>
                  <a:t>급하게 필요한 돈은 공포장에서 최악의 매도 유발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143875" y="1666875"/>
              <a:ext cx="3476625" cy="3762375"/>
              <a:chOff x="8143875" y="1666875"/>
              <a:chExt cx="3476625" cy="3762375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143875" y="1666875"/>
                <a:ext cx="3476625" cy="3762375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143875" y="1666875"/>
                <a:ext cx="3476625" cy="76200"/>
              </a:xfrm>
              <a:prstGeom prst="roundRect">
                <a:avLst>
                  <a:gd name="adj" fmla="val 50000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382000" y="1952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34074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502472" y="2031206"/>
                <a:ext cx="61630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CHECK 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372856" y="2406015"/>
                <a:ext cx="2600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성공할 자질이 있는가?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376285" y="2736056"/>
                <a:ext cx="16970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배짱과 독립적 사고방식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8382000" y="30480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375904" y="3251835"/>
                <a:ext cx="1437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필수 심리적 역량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76285" y="3507581"/>
                <a:ext cx="28434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인내심, 자신감, 상식, 고통에 대한 내성,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6285" y="3717131"/>
                <a:ext cx="2313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군중 심리에 휩쓸리지 않는 독립심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75904" y="4156710"/>
                <a:ext cx="17765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6017" indent="-136017">
                  <a:buClr>
                    <a:srgbClr val="134074"/>
                  </a:buClr>
                  <a:buSzTx/>
                  <a:buFontTx/>
                  <a:buChar char="■"/>
                </a:pPr>
                <a:r>
                  <a:rPr lang="ko-KR" sz="1200" b="1" dirty="0">
                    <a:solidFill>
                      <a:srgbClr val="134074"/>
                    </a:solidFill>
                    <a:latin typeface="Pretendard"/>
                    <a:ea typeface="Pretendard"/>
                    <a:cs typeface="Pretendard"/>
                  </a:rPr>
                  <a:t>지능보다 성품이 중요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76285" y="4412456"/>
                <a:ext cx="28132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주식 투자에 필요한 것은 수학적 천재성이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76285" y="4622006"/>
                <a:ext cx="24800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아닌 공포를 견디는 강한 위장(배짱)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8334375" y="4981575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363373" y="5076349"/>
                <a:ext cx="302810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rgbClr val="15803D"/>
                    </a:solidFill>
                    <a:latin typeface="Pretendard"/>
                    <a:ea typeface="Pretendard"/>
                    <a:cs typeface="Pretendard"/>
                  </a:rPr>
                  <a:t>"주식 투자의 성패는 머리가 아닌 배짱에 달렸다"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71500" y="5667375"/>
            <a:ext cx="11049000" cy="571500"/>
            <a:chOff x="571500" y="5667375"/>
            <a:chExt cx="11049000" cy="571500"/>
          </a:xfrm>
        </p:grpSpPr>
        <p:sp>
          <p:nvSpPr>
            <p:cNvPr id="57" name="Rectangle 57"/>
            <p:cNvSpPr/>
            <p:nvPr/>
          </p:nvSpPr>
          <p:spPr>
            <a:xfrm>
              <a:off x="571500" y="5667375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4F6F9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1535" y="5888831"/>
              <a:ext cx="1442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💡 피터 린치의 결론: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280285" y="5888831"/>
              <a:ext cx="54601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 3가지 질문에 확실하게 YES라고 답할 수 있을 때만 주식 시장에 진입하라.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8546" y="428625"/>
            <a:ext cx="8910878" cy="1013650"/>
            <a:chOff x="558546" y="428625"/>
            <a:chExt cx="8910878" cy="1013650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571625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83101" y="494824"/>
              <a:ext cx="1538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PART 2. 시장관 및 심리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743902"/>
              <a:ext cx="89108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시장 예측은 불가능하다: 칵테일 파티 이론과 대중 심리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178242"/>
              <a:ext cx="6892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주식 시장의 거시 경제를 예측하려 하지 말고, 군중의 심리와 기업의 본질에 집중하라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619250"/>
            <a:ext cx="11049000" cy="4572000"/>
            <a:chOff x="571500" y="1619250"/>
            <a:chExt cx="11049000" cy="457200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619250"/>
              <a:ext cx="5334000" cy="4572000"/>
              <a:chOff x="571500" y="1619250"/>
              <a:chExt cx="5334000" cy="457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5334000" cy="4572000"/>
              </a:xfrm>
              <a:prstGeom prst="roundRect">
                <a:avLst>
                  <a:gd name="adj" fmla="val 2500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61925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6493" y="1869758"/>
                <a:ext cx="40516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1. 거시경제와 주식시장 예측의 무용성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904875" y="2286000"/>
                <a:ext cx="4667250" cy="904875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904875" y="2286000"/>
                <a:ext cx="47625" cy="904875"/>
              </a:xfrm>
              <a:prstGeom prst="roundRect">
                <a:avLst>
                  <a:gd name="adj" fmla="val 4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89279" y="2489835"/>
                <a:ext cx="34300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"주식시장을 예측해서 돈을 번 사람은 없다."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89660" y="2755106"/>
                <a:ext cx="30933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만일 시장을 예측해야만 돈을 벌 수 있었다면,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89660" y="2945606"/>
                <a:ext cx="3396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120" dirty="0">
                    <a:solidFill>
                      <a:srgbClr val="5A6578"/>
                    </a:solidFill>
                    <a:latin typeface="Pretendard"/>
                    <a:ea typeface="Pretendard"/>
                    <a:cs typeface="Pretendard"/>
                  </a:rPr>
                  <a:t>나는 펀드매니저로서 한 푼도 벌지 못했을 것이다.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898398" y="3529489"/>
                <a:ext cx="3934682" cy="2512695"/>
                <a:chOff x="898398" y="3529489"/>
                <a:chExt cx="3934682" cy="2512695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898398" y="3529489"/>
                  <a:ext cx="2950921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44518" indent="-144518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28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금리와 경제 전망에 시간 낭비 금지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99160" y="3802856"/>
                  <a:ext cx="393392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매년 수천 명의 전문가들이 금리, 인플레이션, 경기침체를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99160" y="4012406"/>
                  <a:ext cx="254817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예측하지만 맞추는 사람은 거의 없다.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98398" y="4434364"/>
                  <a:ext cx="2482343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44518" indent="-144518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28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시장이 아닌 기업에 집중하라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99160" y="4707731"/>
                  <a:ext cx="304795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시장은 단지 주식을 사고파는 장소일 뿐이다.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99160" y="4917281"/>
                  <a:ext cx="315396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가격이 기업 가치보다 합리적인지만 판단하라.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898398" y="5339239"/>
                  <a:ext cx="18876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44518" indent="-144518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28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폭락장은 최고의 선물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99160" y="5612606"/>
                  <a:ext cx="301009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몇 년마다 찾아오는 시장 폭락은 우량 기업을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899160" y="5822156"/>
                  <a:ext cx="344171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바겐세일 가격에 주워 담을 수 있는 절호의 기회다.</a:t>
                  </a:r>
                </a:p>
              </p:txBody>
            </p:sp>
          </p:grpSp>
        </p:grpSp>
        <p:grpSp>
          <p:nvGrpSpPr>
            <p:cNvPr id="52" name="Group 52"/>
            <p:cNvGrpSpPr/>
            <p:nvPr/>
          </p:nvGrpSpPr>
          <p:grpSpPr>
            <a:xfrm>
              <a:off x="6286500" y="1619250"/>
              <a:ext cx="5334000" cy="4572000"/>
              <a:chOff x="6286500" y="1619250"/>
              <a:chExt cx="5334000" cy="457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619250"/>
                <a:ext cx="5334000" cy="4572000"/>
              </a:xfrm>
              <a:prstGeom prst="roundRect">
                <a:avLst>
                  <a:gd name="adj" fmla="val 2500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286500" y="161925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11493" y="1869758"/>
                <a:ext cx="40866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2. 피터 린치의 칵테일 파티 4단계 이론</a:t>
                </a: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6619875" y="2286000"/>
                <a:ext cx="4924275" cy="3705225"/>
                <a:chOff x="6619875" y="2286000"/>
                <a:chExt cx="4924275" cy="3705225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6619875" y="2286000"/>
                  <a:ext cx="466725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6781800" y="2514600"/>
                  <a:ext cx="342900" cy="342900"/>
                </a:xfrm>
                <a:prstGeom prst="ellipse">
                  <a:avLst/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758682" y="2629852"/>
                  <a:ext cx="3891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050" b="1" dirty="0">
                      <a:solidFill>
                        <a:srgbClr val="E5C158"/>
                      </a:solidFill>
                      <a:latin typeface="Pretendard"/>
                      <a:ea typeface="Pretendard"/>
                      <a:cs typeface="Pretendard"/>
                    </a:rPr>
                    <a:t>1단계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280529" y="2470785"/>
                  <a:ext cx="22172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무관심과 외면 (시장의 바닥)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281291" y="2725102"/>
                  <a:ext cx="362430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 xml:space="preserve">펀드매니저라고 소개하면 치과의사와만 대화 → </a:t>
                  </a:r>
                  <a:r>
                    <a:rPr lang="ko-KR" sz="1050" b="1" dirty="0">
                      <a:solidFill>
                        <a:srgbClr val="10B981"/>
                      </a:solidFill>
                      <a:latin typeface="Pretendard"/>
                      <a:ea typeface="Pretendard"/>
                      <a:cs typeface="Pretendard"/>
                    </a:rPr>
                    <a:t>매수 적기</a:t>
                  </a:r>
                </a:p>
              </p:txBody>
            </p:sp>
            <p:sp>
              <p:nvSpPr>
                <p:cNvPr id="35" name="Rectangle 35"/>
                <p:cNvSpPr/>
                <p:nvPr/>
              </p:nvSpPr>
              <p:spPr>
                <a:xfrm>
                  <a:off x="6619875" y="3219450"/>
                  <a:ext cx="466725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6781800" y="3448050"/>
                  <a:ext cx="342900" cy="342900"/>
                </a:xfrm>
                <a:prstGeom prst="ellipse">
                  <a:avLst/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758682" y="3563302"/>
                  <a:ext cx="3891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0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2단계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280529" y="3404235"/>
                  <a:ext cx="226815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경계와 회의 (시장 상승 초기)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281291" y="3658552"/>
                  <a:ext cx="35161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주식 이야기를 조금 나누지만 여전히 위험하다고 생각함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6619875" y="4152900"/>
                  <a:ext cx="466725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41" name="Ellipse 41"/>
                <p:cNvSpPr/>
                <p:nvPr/>
              </p:nvSpPr>
              <p:spPr>
                <a:xfrm>
                  <a:off x="6781800" y="4381500"/>
                  <a:ext cx="342900" cy="342900"/>
                </a:xfrm>
                <a:prstGeom prst="ellipse">
                  <a:avLst/>
                </a:prstGeom>
                <a:solidFill>
                  <a:srgbClr val="C59B27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758682" y="4496752"/>
                  <a:ext cx="3891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05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3단계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280529" y="4337685"/>
                  <a:ext cx="226815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대중의 열광 (시장 상승 중기)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281291" y="4592002"/>
                  <a:ext cx="379887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파티 참석자들이 펀드매니저 주변으로 몰려와 종목을 물어봄</a:t>
                  </a:r>
                </a:p>
              </p:txBody>
            </p:sp>
            <p:sp>
              <p:nvSpPr>
                <p:cNvPr id="45" name="Rectangle 45"/>
                <p:cNvSpPr/>
                <p:nvPr/>
              </p:nvSpPr>
              <p:spPr>
                <a:xfrm>
                  <a:off x="6619875" y="5086350"/>
                  <a:ext cx="4667250" cy="904875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EE2E2"/>
                </a:solidFill>
                <a:ln w="9525">
                  <a:solidFill>
                    <a:srgbClr val="FCA5A5"/>
                  </a:solidFill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6781800" y="5362575"/>
                  <a:ext cx="342900" cy="342900"/>
                </a:xfrm>
                <a:prstGeom prst="ellipse">
                  <a:avLst/>
                </a:prstGeom>
                <a:solidFill>
                  <a:srgbClr val="DC2626"/>
                </a:solidFill>
                <a:ln>
                  <a:noFill/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758682" y="5477828"/>
                  <a:ext cx="3891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0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4단계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280529" y="5299710"/>
                  <a:ext cx="204764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DC2626"/>
                      </a:solidFill>
                      <a:latin typeface="Pretendard"/>
                      <a:ea typeface="Pretendard"/>
                      <a:cs typeface="Pretendard"/>
                    </a:rPr>
                    <a:t>탐욕과 광기 (시장의 고점)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281291" y="5554028"/>
                  <a:ext cx="42628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991B1B"/>
                      </a:solidFill>
                      <a:latin typeface="Pretendard"/>
                      <a:ea typeface="Pretendard"/>
                      <a:cs typeface="Pretendard"/>
                    </a:rPr>
                    <a:t xml:space="preserve">치과의사가 펀드매니저에게 종목을 추천하기 시작함 → </a:t>
                  </a:r>
                  <a:r>
                    <a:rPr lang="ko-KR" sz="1050" b="1" dirty="0">
                      <a:solidFill>
                        <a:srgbClr val="DC2626"/>
                      </a:solidFill>
                      <a:latin typeface="Pretendard"/>
                      <a:ea typeface="Pretendard"/>
                      <a:cs typeface="Pretendard"/>
                    </a:rPr>
                    <a:t>위험 신호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7281672" y="5752624"/>
                  <a:ext cx="317313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991B1B"/>
                      </a:solidFill>
                      <a:latin typeface="Pretendard"/>
                      <a:ea typeface="Pretendard"/>
                      <a:cs typeface="Pretendard"/>
                    </a:rPr>
                    <a:t>모든 사람이 주식으로 돈을 벌고 있다고 확신하는 시점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8546" y="428625"/>
            <a:ext cx="8388233" cy="1013650"/>
            <a:chOff x="558546" y="428625"/>
            <a:chExt cx="8388233" cy="1013650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571625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83101" y="494824"/>
              <a:ext cx="1538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PART 2. 기업 유형 분류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743902"/>
              <a:ext cx="83882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기업의 성격을 파악하라: 피터 린치의 6대 주식 유형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178242"/>
              <a:ext cx="7446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모든 주식을 똑같이 대하지 말고 기업의 성장 단계에 맞춰 기대 수익과 전략을 다르게 세워라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1524000"/>
            <a:ext cx="11049000" cy="4667250"/>
            <a:chOff x="571500" y="1524000"/>
            <a:chExt cx="11049000" cy="46672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524000"/>
              <a:ext cx="3476625" cy="2238375"/>
              <a:chOff x="571500" y="1524000"/>
              <a:chExt cx="3476625" cy="22383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2238375"/>
              </a:xfrm>
              <a:prstGeom prst="roundRect">
                <a:avLst>
                  <a:gd name="adj" fmla="val 4255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2480" y="1724025"/>
                <a:ext cx="28642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1. 저성장주 (Slow Growers)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766" y="2029778"/>
                <a:ext cx="23080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GDP 수준의 느린 성장 (연 2~4%)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00100" y="228600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94766" y="2458402"/>
                <a:ext cx="26895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특징: 성숙기 대기업, 유틸리티, 전력 등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94766" y="2696528"/>
                <a:ext cx="28591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체크: 정기적이고 후한 배당 지급 여부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4766" y="2934652"/>
                <a:ext cx="26966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전략: 큰 시세 차익 기대 금지, 배당 목적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762000" y="3286125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99922" y="3380899"/>
                <a:ext cx="18635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64748B"/>
                    </a:solidFill>
                    <a:latin typeface="Pretendard"/>
                    <a:ea typeface="Pretendard"/>
                    <a:cs typeface="Pretendard"/>
                  </a:rPr>
                  <a:t>주요 지표: 배당수익률 지속성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352925" y="1524000"/>
              <a:ext cx="3715169" cy="2238375"/>
              <a:chOff x="4352925" y="1524000"/>
              <a:chExt cx="3715169" cy="22383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52925" y="1524000"/>
                <a:ext cx="3476625" cy="2238375"/>
              </a:xfrm>
              <a:prstGeom prst="roundRect">
                <a:avLst>
                  <a:gd name="adj" fmla="val 4255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52925" y="1524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73905" y="1724025"/>
                <a:ext cx="27249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2. 대형우량주 (Stalwarts)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76191" y="2029778"/>
                <a:ext cx="15542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견고한 연 10~12% 성장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581525" y="228600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576191" y="2458402"/>
                <a:ext cx="28944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특징: 코카콜라, P&amp;G 등 업계 지배적 기업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76191" y="2696528"/>
                <a:ext cx="34919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체크: PER이 과도하지 않은지, 침체기 방어력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76191" y="2934652"/>
                <a:ext cx="25057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전략: 30~50% 상승 시 교체 매매 활용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543425" y="3286125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681347" y="3380899"/>
                <a:ext cx="19255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포트폴리오의 든든한 방패 역할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8143875" y="1524000"/>
              <a:ext cx="3476625" cy="2238375"/>
              <a:chOff x="8143875" y="1524000"/>
              <a:chExt cx="3476625" cy="223837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143875" y="1524000"/>
                <a:ext cx="3476625" cy="2238375"/>
              </a:xfrm>
              <a:prstGeom prst="roundRect">
                <a:avLst>
                  <a:gd name="adj" fmla="val 4255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143875" y="1524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EAB30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364855" y="1724025"/>
                <a:ext cx="25755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3. 경기순환주 (Cyclicals)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67141" y="2029778"/>
                <a:ext cx="23037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경기에 따라 매출/이익 롤러코스터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372475" y="228600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67141" y="2458402"/>
                <a:ext cx="23432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특징: 자동차, 철강, 화학, 항공 등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7141" y="2696528"/>
                <a:ext cx="26541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체크: 재고 점검, 신규 진입자 여부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67141" y="2934652"/>
                <a:ext cx="29168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주의: 고점에서 PER이 낮고 바닥에서 높음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8334375" y="3286125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472297" y="3380899"/>
                <a:ext cx="22218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92400E"/>
                    </a:solidFill>
                    <a:latin typeface="Pretendard"/>
                    <a:ea typeface="Pretendard"/>
                    <a:cs typeface="Pretendard"/>
                  </a:rPr>
                  <a:t>타이밍이 생명, 저점 매수 고점 매도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3952875"/>
              <a:ext cx="3476625" cy="2238375"/>
              <a:chOff x="571500" y="3952875"/>
              <a:chExt cx="3476625" cy="2238375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71500" y="3952875"/>
                <a:ext cx="3476625" cy="2238375"/>
              </a:xfrm>
              <a:prstGeom prst="roundRect">
                <a:avLst>
                  <a:gd name="adj" fmla="val 4255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71500" y="395287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92480" y="4152900"/>
                <a:ext cx="30570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4. 고성장주 (Fast Growers) ⭐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94766" y="4458652"/>
                <a:ext cx="18955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연 20~25% 폭발적 이익 성장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800100" y="4714875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94766" y="4887278"/>
                <a:ext cx="29634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특징: 10루타(10-Bagger) 종목의 최대 산실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94766" y="5125402"/>
                <a:ext cx="30853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체크: 성공 모델의 전국 복제 및 확장 능력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94766" y="5363528"/>
                <a:ext cx="28571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선호: PER 20~25 수준, 기관 미보유 기업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762000" y="571500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EF9C3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99922" y="5809774"/>
                <a:ext cx="214607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854D0E"/>
                    </a:solidFill>
                    <a:latin typeface="Pretendard"/>
                    <a:ea typeface="Pretendard"/>
                    <a:cs typeface="Pretendard"/>
                  </a:rPr>
                  <a:t>가장 큰 부를 안겨주는 핵심 종목군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4352925" y="3952875"/>
              <a:ext cx="3476625" cy="2238375"/>
              <a:chOff x="4352925" y="3952875"/>
              <a:chExt cx="3476625" cy="2238375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4352925" y="3952875"/>
                <a:ext cx="3476625" cy="2238375"/>
              </a:xfrm>
              <a:prstGeom prst="roundRect">
                <a:avLst>
                  <a:gd name="adj" fmla="val 4255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4352925" y="395287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4573905" y="4152900"/>
                <a:ext cx="25406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5. 회생주 (Turnarounds)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576191" y="4458652"/>
                <a:ext cx="22221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파산 위기를 극복하는 턴어라운드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4581525" y="4714875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576191" y="4887278"/>
                <a:ext cx="23502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특징: 시장의 무관심과 저평가 극치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576191" y="5125402"/>
                <a:ext cx="30146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체크: 현금/부채 구조, 무수익 사업 매각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576191" y="5363528"/>
                <a:ext cx="25764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전략: 구조조정 성공 시 주가 수직 반등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4543425" y="571500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4681347" y="5809774"/>
                <a:ext cx="17257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66534"/>
                    </a:solidFill>
                    <a:latin typeface="Pretendard"/>
                    <a:ea typeface="Pretendard"/>
                    <a:cs typeface="Pretendard"/>
                  </a:rPr>
                  <a:t>하이 리스크, 초고수익 기회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143875" y="3952875"/>
              <a:ext cx="3476625" cy="2238375"/>
              <a:chOff x="8143875" y="3952875"/>
              <a:chExt cx="3476625" cy="2238375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8143875" y="3952875"/>
                <a:ext cx="3476625" cy="2238375"/>
              </a:xfrm>
              <a:prstGeom prst="roundRect">
                <a:avLst>
                  <a:gd name="adj" fmla="val 4255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8143875" y="395287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364855" y="4152900"/>
                <a:ext cx="24489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6. 자산주 (Asset Plays)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367141" y="4458652"/>
                <a:ext cx="19697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장부에 숨겨진 알짜 자산 보유</a:t>
                </a: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8372475" y="4714875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8367141" y="4887278"/>
                <a:ext cx="27248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특징: 부동산, 유가증권, 특허, 라이선스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367141" y="5125402"/>
                <a:ext cx="28591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체크: 숨겨진 자산 가치가 시총을 상회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67141" y="5363528"/>
                <a:ext cx="28167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1D2430"/>
                  </a:buClr>
                  <a:buSzTx/>
                  <a:buFontTx/>
                  <a:buChar char="•"/>
                </a:pPr>
                <a:r>
                  <a:rPr lang="ko-KR" sz="10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전략: 시장이 가치를 재평가할 때까지 인내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8334375" y="5715000"/>
                <a:ext cx="309562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72297" y="5809774"/>
                <a:ext cx="174640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b="1" dirty="0">
                    <a:solidFill>
                      <a:srgbClr val="1E40AF"/>
                    </a:solidFill>
                    <a:latin typeface="Pretendard"/>
                    <a:ea typeface="Pretendard"/>
                    <a:cs typeface="Pretendard"/>
                  </a:rPr>
                  <a:t>안전마진이 확보된 가치투자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8546" y="428625"/>
            <a:ext cx="9223378" cy="1013650"/>
            <a:chOff x="558546" y="428625"/>
            <a:chExt cx="9223378" cy="1013650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571625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83101" y="494824"/>
              <a:ext cx="1538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PART 2. 종목 발굴 기법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743902"/>
              <a:ext cx="92233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10루타(Ten-Bagger) 종목 발굴과 안전한 트렌드 투자법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178242"/>
              <a:ext cx="6974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검증된 소형주와 트렌드의 필수 인프라 기업에 투자할 때 가장 높은 수익률이 발생한다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524000"/>
            <a:ext cx="11049000" cy="4714875"/>
            <a:chOff x="571500" y="1524000"/>
            <a:chExt cx="11049000" cy="4714875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1524000"/>
              <a:ext cx="5334000" cy="4714875"/>
              <a:chOff x="571500" y="1524000"/>
              <a:chExt cx="5334000" cy="47148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5334000" cy="4714875"/>
              </a:xfrm>
              <a:prstGeom prst="roundRect">
                <a:avLst>
                  <a:gd name="adj" fmla="val 242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6493" y="1774508"/>
                <a:ext cx="33402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1. 10루타 발굴의 4대 핵심 조건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904875" y="2238375"/>
                <a:ext cx="4667250" cy="3667125"/>
                <a:chOff x="904875" y="2238375"/>
                <a:chExt cx="4667250" cy="3667125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904875" y="2238375"/>
                  <a:ext cx="466725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089279" y="2413635"/>
                  <a:ext cx="217486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① 집 근처에서 발견한 소형주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090041" y="2677478"/>
                  <a:ext cx="411691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대형주에서는 10배 수익이 나오기 어렵다. 가장 큰 수익은 언제나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090041" y="2839402"/>
                  <a:ext cx="33536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시장의 관심 밖에 있는 작고 강한 소기업에서 나온다.</a:t>
                  </a:r>
                </a:p>
              </p:txBody>
            </p:sp>
            <p:sp>
              <p:nvSpPr>
                <p:cNvPr id="15" name="Rectangle 15"/>
                <p:cNvSpPr/>
                <p:nvPr/>
              </p:nvSpPr>
              <p:spPr>
                <a:xfrm>
                  <a:off x="904875" y="3143250"/>
                  <a:ext cx="466725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89279" y="3318510"/>
                  <a:ext cx="297208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② 성공 공식의 복제 능력 (전국 확장력)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90041" y="3582352"/>
                  <a:ext cx="36999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단일 매장에서 입증된 비즈니스 성공 모델을 다른 지역으로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090041" y="3744278"/>
                  <a:ext cx="41027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동일하게 복제하여 확장할 수 있는가? (ex: 월마트, 던킨도너츠)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904875" y="4048125"/>
                  <a:ext cx="4667250" cy="809625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89279" y="4223385"/>
                  <a:ext cx="26837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③ 기관투자자 및 애널리스트 미보유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90041" y="4487228"/>
                  <a:ext cx="34949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월가의 분석 보고서가 없고 기관 비중이 낮을수록 좋다.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090041" y="4649152"/>
                  <a:ext cx="331121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나중에 기관이 매수하기 시작할 때 주가가 폭등한다.</a:t>
                  </a:r>
                </a:p>
              </p:txBody>
            </p:sp>
            <p:sp>
              <p:nvSpPr>
                <p:cNvPr id="23" name="Rectangle 23"/>
                <p:cNvSpPr/>
                <p:nvPr/>
              </p:nvSpPr>
              <p:spPr>
                <a:xfrm>
                  <a:off x="904875" y="4953000"/>
                  <a:ext cx="4667250" cy="95250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089279" y="5128260"/>
                  <a:ext cx="251410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0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④ 혐오스럽거나 지루한 사업 내용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090041" y="5392102"/>
                  <a:ext cx="40603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이름이 따분하거나 폐기물, 장례 등 사람들이 꺼리는 업종일수록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090041" y="5554028"/>
                  <a:ext cx="326880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경쟁자가 적고 주가가 저평가되어 안전마진이 높다.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6286500" y="1524000"/>
              <a:ext cx="5334000" cy="4714875"/>
              <a:chOff x="6286500" y="1524000"/>
              <a:chExt cx="5334000" cy="471487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286500" y="1524000"/>
                <a:ext cx="5334000" cy="4714875"/>
              </a:xfrm>
              <a:prstGeom prst="roundRect">
                <a:avLst>
                  <a:gd name="adj" fmla="val 2424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286500" y="152400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11493" y="1774508"/>
                <a:ext cx="43781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2. 트렌드에 편승하는 '곡괭이와 삽' 전략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6619875" y="2238375"/>
                <a:ext cx="4881539" cy="3667125"/>
                <a:chOff x="6619875" y="2238375"/>
                <a:chExt cx="4881539" cy="3667125"/>
              </a:xfrm>
            </p:grpSpPr>
            <p:sp>
              <p:nvSpPr>
                <p:cNvPr id="32" name="Rectangle 32"/>
                <p:cNvSpPr/>
                <p:nvPr/>
              </p:nvSpPr>
              <p:spPr>
                <a:xfrm>
                  <a:off x="6619875" y="2238375"/>
                  <a:ext cx="4667250" cy="1428750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852666" y="2458402"/>
                  <a:ext cx="16807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E5C158"/>
                      </a:solidFill>
                      <a:latin typeface="Pretendard"/>
                      <a:ea typeface="Pretendard"/>
                      <a:cs typeface="Pretendard"/>
                    </a:rPr>
                    <a:t>THE GOLD RUSH LESSON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851142" y="2740342"/>
                  <a:ext cx="400193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3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"골드러시 때 금을 캔 사람은 대부분 망했지만,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851142" y="2997518"/>
                  <a:ext cx="421184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3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곡괭이, 삽, 청바지를 판 사람은 거부가 되었다."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852666" y="3363278"/>
                  <a:ext cx="45268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8E9AA8"/>
                      </a:solidFill>
                      <a:latin typeface="Pretendard"/>
                      <a:ea typeface="Pretendard"/>
                      <a:cs typeface="Pretendard"/>
                    </a:rPr>
                    <a:t>직접적인 트렌드 경쟁 기업보다 필수 인프라/도구 공급 기업이 안전하다</a:t>
                  </a:r>
                </a:p>
              </p:txBody>
            </p:sp>
            <p:sp>
              <p:nvSpPr>
                <p:cNvPr id="37" name="Rectangle 37"/>
                <p:cNvSpPr/>
                <p:nvPr/>
              </p:nvSpPr>
              <p:spPr>
                <a:xfrm>
                  <a:off x="6619875" y="3810000"/>
                  <a:ext cx="4667250" cy="2095500"/>
                </a:xfrm>
                <a:prstGeom prst="roundRect">
                  <a:avLst>
                    <a:gd name="adj" fmla="val 4545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851523" y="4005739"/>
                  <a:ext cx="1743090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28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실전 적용 프레임워크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852285" y="4355306"/>
                  <a:ext cx="19120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12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인터넷/이커머스 열풍 시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852666" y="4572952"/>
                  <a:ext cx="427134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 xml:space="preserve">수많은 닷컴 기업 대신, 모든 상품을 배송해야 하는 </a:t>
                  </a:r>
                  <a:r>
                    <a:rPr lang="ko-KR" sz="1050" b="1" dirty="0">
                      <a:solidFill>
                        <a:srgbClr val="C59B27"/>
                      </a:solidFill>
                      <a:latin typeface="Pretendard"/>
                      <a:ea typeface="Pretendard"/>
                      <a:cs typeface="Pretendard"/>
                    </a:rPr>
                    <a:t>택배/물류 기업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852285" y="4926806"/>
                  <a:ext cx="19120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12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신기술/하드웨어 경쟁 시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852666" y="5144452"/>
                  <a:ext cx="377484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 xml:space="preserve">치열한 완성품 제조사 대신, 필수 부품 및 </a:t>
                  </a:r>
                  <a:r>
                    <a:rPr lang="ko-KR" sz="1050" b="1" dirty="0">
                      <a:solidFill>
                        <a:srgbClr val="C59B27"/>
                      </a:solidFill>
                      <a:latin typeface="Pretendard"/>
                      <a:ea typeface="Pretendard"/>
                      <a:cs typeface="Pretendard"/>
                    </a:rPr>
                    <a:t>핵심 장비 공급사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852666" y="5506402"/>
                  <a:ext cx="464874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10B981"/>
                      </a:solidFill>
                      <a:latin typeface="Pretendard"/>
                      <a:ea typeface="Pretendard"/>
                      <a:cs typeface="Pretendard"/>
                    </a:rPr>
                    <a:t>✅ 트렌드의 최종 승자를 맞추기 어렵다면 인프라 독점 기업을 매수하라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254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37483" y="428625"/>
            <a:ext cx="8094784" cy="1013650"/>
            <a:chOff x="437483" y="428625"/>
            <a:chExt cx="8094784" cy="1013650"/>
          </a:xfrm>
        </p:grpSpPr>
        <p:sp>
          <p:nvSpPr>
            <p:cNvPr id="3" name="Rectangle 3"/>
            <p:cNvSpPr/>
            <p:nvPr/>
          </p:nvSpPr>
          <p:spPr>
            <a:xfrm>
              <a:off x="571500" y="428625"/>
              <a:ext cx="1571625" cy="24765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37483" y="494824"/>
              <a:ext cx="18301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80" b="1" dirty="0">
                  <a:solidFill>
                    <a:srgbClr val="C59B27"/>
                  </a:solidFill>
                  <a:latin typeface="Pretendard"/>
                  <a:ea typeface="Pretendard"/>
                  <a:cs typeface="Pretendard"/>
                </a:rPr>
                <a:t>PART 3. 포트폴리오 및 매매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743902"/>
              <a:ext cx="7973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이기는 포트폴리오 운용과 현명한 매수/매도 원칙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4642" y="1178242"/>
              <a:ext cx="683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A6578"/>
                  </a:solidFill>
                  <a:latin typeface="Pretendard"/>
                  <a:ea typeface="Pretendard"/>
                  <a:cs typeface="Pretendard"/>
                </a:rPr>
                <a:t>주가 변동에 뇌동매매하지 말고, 회사의 펀더멘털 스토리가 유효한 한 계속 보유하라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1524000"/>
            <a:ext cx="11049000" cy="4714875"/>
            <a:chOff x="571500" y="1524000"/>
            <a:chExt cx="11049000" cy="4714875"/>
          </a:xfrm>
        </p:grpSpPr>
        <p:grpSp>
          <p:nvGrpSpPr>
            <p:cNvPr id="30" name="Group 30"/>
            <p:cNvGrpSpPr/>
            <p:nvPr/>
          </p:nvGrpSpPr>
          <p:grpSpPr>
            <a:xfrm>
              <a:off x="571500" y="1524000"/>
              <a:ext cx="3476625" cy="4714875"/>
              <a:chOff x="571500" y="1524000"/>
              <a:chExt cx="3476625" cy="47148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24000"/>
                <a:ext cx="3476625" cy="4714875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0B2545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02005" y="1790700"/>
                <a:ext cx="21991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1. 최적 자산 배분 모델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04291" y="2077402"/>
                <a:ext cx="17768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C59B27"/>
                    </a:solidFill>
                    <a:latin typeface="Pretendard"/>
                    <a:ea typeface="Pretendard"/>
                    <a:cs typeface="Pretendard"/>
                  </a:rPr>
                  <a:t>수익과 안정성의 황금 비율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09625" y="23622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809625" y="2571750"/>
                <a:ext cx="3035166" cy="1885950"/>
                <a:chOff x="809625" y="2571750"/>
                <a:chExt cx="3035166" cy="1885950"/>
              </a:xfrm>
            </p:grpSpPr>
            <p:sp>
              <p:nvSpPr>
                <p:cNvPr id="13" name="Rectangle 13"/>
                <p:cNvSpPr/>
                <p:nvPr/>
              </p:nvSpPr>
              <p:spPr>
                <a:xfrm>
                  <a:off x="809625" y="2571750"/>
                  <a:ext cx="3000375" cy="40005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0B2545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47166" y="2706052"/>
                  <a:ext cx="133901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고성장주: 30 ~ 40%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3090672" y="2714149"/>
                  <a:ext cx="75411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b="1" dirty="0">
                      <a:solidFill>
                        <a:srgbClr val="E5C158"/>
                      </a:solidFill>
                      <a:latin typeface="Pretendard"/>
                      <a:ea typeface="Pretendard"/>
                      <a:cs typeface="Pretendard"/>
                    </a:rPr>
                    <a:t>10루타 주력</a:t>
                  </a:r>
                </a:p>
              </p:txBody>
            </p:sp>
            <p:sp>
              <p:nvSpPr>
                <p:cNvPr id="16" name="Rectangle 16"/>
                <p:cNvSpPr/>
                <p:nvPr/>
              </p:nvSpPr>
              <p:spPr>
                <a:xfrm>
                  <a:off x="809625" y="3067050"/>
                  <a:ext cx="3000375" cy="40005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134074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47166" y="3201352"/>
                  <a:ext cx="14874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대형우량주: 10 ~ 20%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090672" y="3209449"/>
                  <a:ext cx="74493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8E9AA8"/>
                      </a:solidFill>
                      <a:latin typeface="Pretendard"/>
                      <a:ea typeface="Pretendard"/>
                      <a:cs typeface="Pretendard"/>
                    </a:rPr>
                    <a:t>방어 및 안정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809625" y="3562350"/>
                  <a:ext cx="3000375" cy="40005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1E4D82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47166" y="3696652"/>
                  <a:ext cx="14874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경기순환주: 10 ~ 20%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3090672" y="3704749"/>
                  <a:ext cx="70555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8E9AA8"/>
                      </a:solidFill>
                      <a:latin typeface="Pretendard"/>
                      <a:ea typeface="Pretendard"/>
                      <a:cs typeface="Pretendard"/>
                    </a:rPr>
                    <a:t>사이클 기회</a:t>
                  </a:r>
                </a:p>
              </p:txBody>
            </p:sp>
            <p:sp>
              <p:nvSpPr>
                <p:cNvPr id="22" name="Rectangle 22"/>
                <p:cNvSpPr/>
                <p:nvPr/>
              </p:nvSpPr>
              <p:spPr>
                <a:xfrm>
                  <a:off x="809625" y="4057650"/>
                  <a:ext cx="3000375" cy="40005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64748B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947166" y="4191952"/>
                  <a:ext cx="15616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FFFFFF"/>
                      </a:solidFill>
                      <a:latin typeface="Pretendard"/>
                      <a:ea typeface="Pretendard"/>
                      <a:cs typeface="Pretendard"/>
                    </a:rPr>
                    <a:t>회생주 및 기타: 나머지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090672" y="4200049"/>
                  <a:ext cx="57430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E2E8F0"/>
                      </a:solidFill>
                      <a:latin typeface="Pretendard"/>
                      <a:ea typeface="Pretendard"/>
                      <a:cs typeface="Pretendard"/>
                    </a:rPr>
                    <a:t>초과 수익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803910" y="4783931"/>
                <a:ext cx="2654313" cy="642080"/>
                <a:chOff x="803910" y="4783931"/>
                <a:chExt cx="2654313" cy="642080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803910" y="4783931"/>
                  <a:ext cx="11169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0B2545"/>
                    </a:buClr>
                    <a:buSzTx/>
                    <a:buFontTx/>
                    <a:buChar char="•"/>
                  </a:pPr>
                  <a:r>
                    <a:rPr lang="ko-KR" sz="112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종목 수 원칙: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04291" y="5030152"/>
                  <a:ext cx="234296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개인은 자신이 완벽히 파악할 수 있는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04291" y="5220652"/>
                  <a:ext cx="26539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3~10개 종목에 집중하는 것이 가장 이상적</a:t>
                  </a:r>
                </a:p>
              </p:txBody>
            </p:sp>
          </p:grpSp>
        </p:grpSp>
        <p:grpSp>
          <p:nvGrpSpPr>
            <p:cNvPr id="47" name="Group 47"/>
            <p:cNvGrpSpPr/>
            <p:nvPr/>
          </p:nvGrpSpPr>
          <p:grpSpPr>
            <a:xfrm>
              <a:off x="4352925" y="1524000"/>
              <a:ext cx="3678288" cy="4714875"/>
              <a:chOff x="4352925" y="1524000"/>
              <a:chExt cx="3678288" cy="471487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352925" y="1524000"/>
                <a:ext cx="3476625" cy="4714875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35292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583430" y="1790700"/>
                <a:ext cx="23475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2. 기계적 손절매의 함정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85716" y="2077402"/>
                <a:ext cx="16877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EF4444"/>
                    </a:solidFill>
                    <a:latin typeface="Pretendard"/>
                    <a:ea typeface="Pretendard"/>
                    <a:cs typeface="Pretendard"/>
                  </a:rPr>
                  <a:t>-10% 기계적 손절매 반대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4591050" y="23622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4585335" y="2571750"/>
                <a:ext cx="3445878" cy="2663761"/>
                <a:chOff x="4585335" y="2571750"/>
                <a:chExt cx="3445878" cy="2663761"/>
              </a:xfrm>
            </p:grpSpPr>
            <p:sp>
              <p:nvSpPr>
                <p:cNvPr id="36" name="Rectangle 36"/>
                <p:cNvSpPr/>
                <p:nvPr/>
              </p:nvSpPr>
              <p:spPr>
                <a:xfrm>
                  <a:off x="4591050" y="2571750"/>
                  <a:ext cx="3000375" cy="904875"/>
                </a:xfrm>
                <a:prstGeom prst="roundRect">
                  <a:avLst>
                    <a:gd name="adj" fmla="val 8421"/>
                  </a:avLst>
                </a:prstGeom>
                <a:solidFill>
                  <a:srgbClr val="FEE2E2"/>
                </a:solidFill>
                <a:ln w="9525">
                  <a:solidFill>
                    <a:srgbClr val="FCA5A5"/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728210" y="2755106"/>
                  <a:ext cx="244443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120" b="1" dirty="0">
                      <a:solidFill>
                        <a:srgbClr val="991B1B"/>
                      </a:solidFill>
                      <a:latin typeface="Pretendard"/>
                      <a:ea typeface="Pretendard"/>
                      <a:cs typeface="Pretendard"/>
                    </a:rPr>
                    <a:t>⚠️ 손절매는 손실을 확정짓는 행위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728972" y="3018949"/>
                  <a:ext cx="182778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7F1D1D"/>
                      </a:solidFill>
                      <a:latin typeface="Pretendard"/>
                      <a:ea typeface="Pretendard"/>
                      <a:cs typeface="Pretendard"/>
                    </a:rPr>
                    <a:t>"10% 손절매 주문을 걸어두면,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728972" y="3209449"/>
                  <a:ext cx="216904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7F1D1D"/>
                      </a:solidFill>
                      <a:latin typeface="Pretendard"/>
                      <a:ea typeface="Pretendard"/>
                      <a:cs typeface="Pretendard"/>
                    </a:rPr>
                    <a:t>반드시 10% 손실을 보게 될 것이다."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585335" y="3688556"/>
                  <a:ext cx="177685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12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주가 변동 vs 기업 가치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585716" y="3934778"/>
                  <a:ext cx="219454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기업의 펀더멘털에 문제가 없다면,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4585716" y="4125278"/>
                  <a:ext cx="285606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 xml:space="preserve">주가 하락은 손절매가 아니라 </a:t>
                  </a:r>
                  <a:r>
                    <a:rPr lang="ko-KR" sz="1050" b="1" dirty="0">
                      <a:solidFill>
                        <a:srgbClr val="10B981"/>
                      </a:solidFill>
                      <a:latin typeface="Pretendard"/>
                      <a:ea typeface="Pretendard"/>
                      <a:cs typeface="Pretendard"/>
                    </a:rPr>
                    <a:t>추가 매수 기회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585335" y="4593431"/>
                  <a:ext cx="205513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134074"/>
                    </a:buClr>
                    <a:buSzTx/>
                    <a:buFontTx/>
                    <a:buChar char="•"/>
                  </a:pPr>
                  <a:r>
                    <a:rPr lang="ko-KR" sz="112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2배 수익 후 조기 매도 금지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585716" y="4839652"/>
                  <a:ext cx="205319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"두 배가 되었다고 팔아치웠다면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585716" y="5030152"/>
                  <a:ext cx="34454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나는 10루타 종목을 단 하나도 만나지 못했을 것이다."</a:t>
                  </a:r>
                </a:p>
              </p:txBody>
            </p:sp>
          </p:grpSp>
        </p:grpSp>
        <p:grpSp>
          <p:nvGrpSpPr>
            <p:cNvPr id="66" name="Group 66"/>
            <p:cNvGrpSpPr/>
            <p:nvPr/>
          </p:nvGrpSpPr>
          <p:grpSpPr>
            <a:xfrm>
              <a:off x="8143875" y="1524000"/>
              <a:ext cx="3476625" cy="4714875"/>
              <a:chOff x="8143875" y="1524000"/>
              <a:chExt cx="3476625" cy="4714875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143875" y="1524000"/>
                <a:ext cx="3476625" cy="4714875"/>
              </a:xfrm>
              <a:prstGeom prst="roundRect">
                <a:avLst>
                  <a:gd name="adj" fmla="val 3288"/>
                </a:avLst>
              </a:prstGeom>
              <a:solidFill>
                <a:srgbClr val="F4F6F9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143875" y="152400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374380" y="1790700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3. 진정한 매도 시점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76666" y="2077402"/>
                <a:ext cx="19252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050" b="1" dirty="0">
                    <a:solidFill>
                      <a:srgbClr val="10B981"/>
                    </a:solidFill>
                    <a:latin typeface="Pretendard"/>
                    <a:ea typeface="Pretendard"/>
                    <a:cs typeface="Pretendard"/>
                  </a:rPr>
                  <a:t>스토리가 끝났을 때 결별하라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8382000" y="2362200"/>
                <a:ext cx="3000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75" h="9525">
                    <a:moveTo>
                      <a:pt x="0" y="0"/>
                    </a:moveTo>
                    <a:lnTo>
                      <a:pt x="3000375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8376285" y="2640806"/>
                <a:ext cx="3006090" cy="3026569"/>
                <a:chOff x="8376285" y="2640806"/>
                <a:chExt cx="3006090" cy="3026569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8376285" y="2640806"/>
                  <a:ext cx="187226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134074"/>
                    </a:buClr>
                    <a:buSzTx/>
                    <a:buFontTx/>
                    <a:buChar char="■"/>
                  </a:pPr>
                  <a:r>
                    <a:rPr lang="ko-KR" sz="112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매수 이유가 사라졌을 때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376666" y="2887028"/>
                  <a:ext cx="234296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처음 그 주식을 샀던 본래의 비즈니스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376666" y="3077528"/>
                  <a:ext cx="23005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스토리가 훼손되었을 때 과감히 매도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376285" y="3498056"/>
                  <a:ext cx="150651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7516" indent="-127516">
                    <a:buClr>
                      <a:srgbClr val="134074"/>
                    </a:buClr>
                    <a:buSzTx/>
                    <a:buFontTx/>
                    <a:buChar char="■"/>
                  </a:pPr>
                  <a:r>
                    <a:rPr lang="ko-KR" sz="1120" b="1" dirty="0">
                      <a:solidFill>
                        <a:srgbClr val="134074"/>
                      </a:solidFill>
                      <a:latin typeface="Pretendard"/>
                      <a:ea typeface="Pretendard"/>
                      <a:cs typeface="Pretendard"/>
                    </a:rPr>
                    <a:t>대표적인 매도 신호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376666" y="3744278"/>
                  <a:ext cx="178489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13348" indent="-113348">
                    <a:buClr>
                      <a:srgbClr val="1D2430"/>
                    </a:buClr>
                    <a:buSzTx/>
                    <a:buFontTx/>
                    <a:buChar char="•"/>
                  </a:pPr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2년 연속 시장 점유율 하락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8376666" y="3953828"/>
                  <a:ext cx="251476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13348" indent="-113348">
                    <a:buClr>
                      <a:srgbClr val="1D2430"/>
                    </a:buClr>
                    <a:buSzTx/>
                    <a:buFontTx/>
                    <a:buChar char="•"/>
                  </a:pPr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엉뚱한 사업다악화(Diworsification)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376666" y="4163378"/>
                  <a:ext cx="204318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13348" indent="-113348">
                    <a:buClr>
                      <a:srgbClr val="1D2430"/>
                    </a:buClr>
                    <a:buSzTx/>
                    <a:buFontTx/>
                    <a:buChar char="•"/>
                  </a:pPr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과도한 부채와 R&amp;D 투자 축소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376666" y="4372928"/>
                  <a:ext cx="249124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13348" indent="-113348">
                    <a:buClr>
                      <a:srgbClr val="1D2430"/>
                    </a:buClr>
                    <a:buSzTx/>
                    <a:buFontTx/>
                    <a:buChar char="•"/>
                  </a:pPr>
                  <a:r>
                    <a:rPr lang="ko-KR" sz="1050" dirty="0">
                      <a:solidFill>
                        <a:srgbClr val="1D2430"/>
                      </a:solidFill>
                      <a:latin typeface="Pretendard"/>
                      <a:ea typeface="Pretendard"/>
                      <a:cs typeface="Pretendard"/>
                    </a:rPr>
                    <a:t>PER이 역사적 평균치를 극단적 초과</a:t>
                  </a:r>
                </a:p>
              </p:txBody>
            </p:sp>
            <p:sp>
              <p:nvSpPr>
                <p:cNvPr id="61" name="Rectangle 61"/>
                <p:cNvSpPr/>
                <p:nvPr/>
              </p:nvSpPr>
              <p:spPr>
                <a:xfrm>
                  <a:off x="8382000" y="4810125"/>
                  <a:ext cx="3000375" cy="85725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8519541" y="4982528"/>
                  <a:ext cx="198211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050" b="1" dirty="0">
                      <a:solidFill>
                        <a:srgbClr val="0B2545"/>
                      </a:solidFill>
                      <a:latin typeface="Pretendard"/>
                      <a:ea typeface="Pretendard"/>
                      <a:cs typeface="Pretendard"/>
                    </a:rPr>
                    <a:t>💡 교체 매매(Switching) 전략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519922" y="5228749"/>
                  <a:ext cx="194591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주가가 충분히 오른 주식을 팔아,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519922" y="5419249"/>
                  <a:ext cx="217560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980" dirty="0">
                      <a:solidFill>
                        <a:srgbClr val="5A6578"/>
                      </a:solidFill>
                      <a:latin typeface="Pretendard"/>
                      <a:ea typeface="Pretendard"/>
                      <a:cs typeface="Pretendard"/>
                    </a:rPr>
                    <a:t>아직 덜 오른 매력적인 종목으로 교체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2545"/>
            </a:gs>
            <a:gs pos="100000">
              <a:srgbClr val="07172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C59B27"/>
              </a:gs>
              <a:gs pos="100000">
                <a:srgbClr val="E5C158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39546" y="381000"/>
            <a:ext cx="7000520" cy="988028"/>
            <a:chOff x="939546" y="381000"/>
            <a:chExt cx="7000520" cy="988028"/>
          </a:xfrm>
        </p:grpSpPr>
        <p:sp>
          <p:nvSpPr>
            <p:cNvPr id="3" name="Rectangle 3"/>
            <p:cNvSpPr/>
            <p:nvPr/>
          </p:nvSpPr>
          <p:spPr>
            <a:xfrm>
              <a:off x="952500" y="3810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3407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7676" y="447199"/>
              <a:ext cx="8326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CONCLUSION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546" y="696278"/>
              <a:ext cx="70005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피터 린치가 전하는 성공 투자의 5대 황금률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6023" y="1119664"/>
              <a:ext cx="4321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8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평생 시장을 이기는 투자자로 살아남기 위한 불변의 원칙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" y="1476375"/>
            <a:ext cx="10287000" cy="3257550"/>
            <a:chOff x="952500" y="1476375"/>
            <a:chExt cx="10287000" cy="3257550"/>
          </a:xfrm>
        </p:grpSpPr>
        <p:grpSp>
          <p:nvGrpSpPr>
            <p:cNvPr id="13" name="Group 13"/>
            <p:cNvGrpSpPr/>
            <p:nvPr/>
          </p:nvGrpSpPr>
          <p:grpSpPr>
            <a:xfrm>
              <a:off x="952500" y="1476375"/>
              <a:ext cx="10287000" cy="590550"/>
              <a:chOff x="952500" y="1476375"/>
              <a:chExt cx="10287000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52500" y="1476375"/>
                <a:ext cx="10287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134074">
                  <a:alpha val="45000"/>
                </a:srgbClr>
              </a:solidFill>
              <a:ln w="9525">
                <a:solidFill>
                  <a:srgbClr val="1E4D82">
                    <a:alpha val="45000"/>
                  </a:srgbClr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81100" y="1619250"/>
                <a:ext cx="304800" cy="304800"/>
              </a:xfrm>
              <a:prstGeom prst="ellipse">
                <a:avLst/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84055" y="170735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60398" y="1691164"/>
                <a:ext cx="445543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당신이 잘 알고 이해할 수 있는 비즈니스에만 투자하라.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186547" y="1723549"/>
                <a:ext cx="21165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복잡한 테마주 거부, 사업 본질 이해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52500" y="2143125"/>
              <a:ext cx="10287000" cy="590550"/>
              <a:chOff x="952500" y="2143125"/>
              <a:chExt cx="10287000" cy="590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952500" y="2143125"/>
                <a:ext cx="10287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134074">
                  <a:alpha val="45000"/>
                </a:srgbClr>
              </a:solidFill>
              <a:ln w="9525">
                <a:solidFill>
                  <a:srgbClr val="1E4D82">
                    <a:alpha val="45000"/>
                  </a:srgbClr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181100" y="2286000"/>
                <a:ext cx="304800" cy="304800"/>
              </a:xfrm>
              <a:prstGeom prst="ellipse">
                <a:avLst/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84055" y="237410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60398" y="2357914"/>
                <a:ext cx="45815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단기적인 시장 예측과 거시경제 소음을 완전히 무시하라.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86547" y="2390299"/>
                <a:ext cx="21887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금리·경기 예측 불가, 개별 기업 집중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2809875"/>
              <a:ext cx="10287000" cy="590550"/>
              <a:chOff x="952500" y="2809875"/>
              <a:chExt cx="10287000" cy="5905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52500" y="2809875"/>
                <a:ext cx="10287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134074">
                  <a:alpha val="45000"/>
                </a:srgbClr>
              </a:solidFill>
              <a:ln w="9525">
                <a:solidFill>
                  <a:srgbClr val="1E4D82">
                    <a:alpha val="45000"/>
                  </a:srgbClr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1181100" y="2952750"/>
                <a:ext cx="304800" cy="304800"/>
              </a:xfrm>
              <a:prstGeom prst="ellipse">
                <a:avLst/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84055" y="304085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60398" y="3024664"/>
                <a:ext cx="508621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대박(10루타) 종목은 월가가 아닌 당신의 일상 속에 숨어 있다.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86547" y="3057049"/>
                <a:ext cx="19852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현장 관찰, 소기업 성공 모델 복제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52500" y="3476625"/>
              <a:ext cx="10287000" cy="590550"/>
              <a:chOff x="952500" y="3476625"/>
              <a:chExt cx="10287000" cy="5905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52500" y="3476625"/>
                <a:ext cx="10287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134074">
                  <a:alpha val="45000"/>
                </a:srgbClr>
              </a:solidFill>
              <a:ln w="9525">
                <a:solidFill>
                  <a:srgbClr val="1E4D82">
                    <a:alpha val="45000"/>
                  </a:srgbClr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181100" y="3619500"/>
                <a:ext cx="304800" cy="304800"/>
              </a:xfrm>
              <a:prstGeom prst="ellipse">
                <a:avLst/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84055" y="370760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660398" y="3691414"/>
                <a:ext cx="468972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회사의 기본 사업 스토리가 바뀌지 않는 한 계속 보유하라.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86547" y="3723799"/>
                <a:ext cx="19459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기계적 손절 금지, 펀더멘털 기준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52500" y="4143375"/>
              <a:ext cx="10287000" cy="590550"/>
              <a:chOff x="952500" y="4143375"/>
              <a:chExt cx="10287000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52500" y="4143375"/>
                <a:ext cx="10287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134074">
                  <a:alpha val="45000"/>
                </a:srgbClr>
              </a:solidFill>
              <a:ln w="9525">
                <a:solidFill>
                  <a:srgbClr val="1E4D82">
                    <a:alpha val="45000"/>
                  </a:srgbClr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181100" y="4286250"/>
                <a:ext cx="304800" cy="304800"/>
              </a:xfrm>
              <a:prstGeom prst="ellipse">
                <a:avLst/>
              </a:prstGeom>
              <a:solidFill>
                <a:srgbClr val="C59B27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84055" y="4374356"/>
                <a:ext cx="988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B2545"/>
                    </a:solidFill>
                    <a:latin typeface="Pretendard"/>
                    <a:ea typeface="Pretendard"/>
                    <a:cs typeface="Pretendard"/>
                  </a:rPr>
                  <a:t>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660398" y="4358164"/>
                <a:ext cx="505017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280" b="1" dirty="0">
                    <a:solidFill>
                      <a:srgbClr val="FFFFFF"/>
                    </a:solidFill>
                    <a:latin typeface="Pretendard"/>
                    <a:ea typeface="Pretendard"/>
                    <a:cs typeface="Pretendard"/>
                  </a:rPr>
                  <a:t>주식 투자의 성패는 두뇌가 아니라 배짱과 인내심에 달려 있다.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86547" y="4390549"/>
                <a:ext cx="20049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rgbClr val="E5C158"/>
                    </a:solidFill>
                    <a:latin typeface="Pretendard"/>
                    <a:ea typeface="Pretendard"/>
                    <a:cs typeface="Pretendard"/>
                  </a:rPr>
                  <a:t>공포를 이겨내는 강한 위장과 배짱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952500" y="5000625"/>
            <a:ext cx="10287000" cy="1381125"/>
            <a:chOff x="952500" y="5000625"/>
            <a:chExt cx="10287000" cy="1381125"/>
          </a:xfrm>
        </p:grpSpPr>
        <p:sp>
          <p:nvSpPr>
            <p:cNvPr id="39" name="Rectangle 39"/>
            <p:cNvSpPr/>
            <p:nvPr/>
          </p:nvSpPr>
          <p:spPr>
            <a:xfrm>
              <a:off x="952500" y="5000625"/>
              <a:ext cx="10287000" cy="1381125"/>
            </a:xfrm>
            <a:prstGeom prst="roundRect">
              <a:avLst>
                <a:gd name="adj" fmla="val 8276"/>
              </a:avLst>
            </a:prstGeom>
            <a:solidFill>
              <a:srgbClr val="134074"/>
            </a:solidFill>
            <a:ln w="19050">
              <a:solidFill>
                <a:srgbClr val="C59B27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52500" y="5000625"/>
              <a:ext cx="76200" cy="1381125"/>
            </a:xfrm>
            <a:prstGeom prst="roundRect">
              <a:avLst>
                <a:gd name="adj" fmla="val 50000"/>
              </a:avLst>
            </a:prstGeom>
            <a:solidFill>
              <a:srgbClr val="C59B2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80160" y="5260181"/>
              <a:ext cx="233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2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🎯 NEXT STAGE : 실전 자가 진단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6731" y="5520690"/>
              <a:ext cx="74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"당신이 보유한 종목은 피터 린치 청문회를 통과할 수 있을까요?"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9779" y="5937885"/>
              <a:ext cx="8240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 xml:space="preserve">피터 린치의 12가지 독설 질문으로 내 주식을 검증하는 </a:t>
              </a:r>
              <a:r>
                <a:rPr lang="ko-KR" sz="1200" b="1" dirty="0">
                  <a:solidFill>
                    <a:srgbClr val="E5C158"/>
                  </a:solidFill>
                  <a:latin typeface="Pretendard"/>
                  <a:ea typeface="Pretendard"/>
                  <a:cs typeface="Pretendard"/>
                </a:rPr>
                <a:t>[2편: 피터 린치의 종목 청문회 워크북]</a:t>
              </a:r>
              <a:r>
                <a:rPr lang="ko-KR" sz="1200" dirty="0">
                  <a:solidFill>
                    <a:srgbClr val="8E9AA8"/>
                  </a:solidFill>
                  <a:latin typeface="Pretendard"/>
                  <a:ea typeface="Pretendard"/>
                  <a:cs typeface="Pretendard"/>
                </a:rPr>
                <a:t>에서 확인하세요.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44000" y="5429250"/>
              <a:ext cx="1809750" cy="523875"/>
            </a:xfrm>
            <a:prstGeom prst="roundRect">
              <a:avLst>
                <a:gd name="adj" fmla="val 14545"/>
              </a:avLst>
            </a:prstGeom>
            <a:gradFill>
              <a:gsLst>
                <a:gs pos="0">
                  <a:srgbClr val="C59B27"/>
                </a:gs>
                <a:gs pos="100000">
                  <a:srgbClr val="E5C15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41319" y="5623560"/>
              <a:ext cx="1615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0B2545"/>
                  </a:solidFill>
                  <a:latin typeface="Pretendard"/>
                  <a:ea typeface="Pretendard"/>
                  <a:cs typeface="Pretendard"/>
                </a:rPr>
                <a:t>청문회 워크북 열기 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2026-08-17T01:10:11Z</dcterms:created>
  <dcterms:modified xsi:type="dcterms:W3CDTF">2026-08-17T01:10:11Z</dcterms:modified>
  <cp:category/>
  <cp:contentStatus/>
</cp:coreProperties>
</file>