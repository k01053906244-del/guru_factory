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2545"/>
            </a:gs>
            <a:gs pos="100000">
              <a:srgbClr val="06132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C59B27"/>
              </a:gs>
              <a:gs pos="100000">
                <a:srgbClr val="E5C158"/>
              </a:gs>
            </a:gsLst>
            <a:lin ang="0" scaled="1"/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933450" y="1143000"/>
            <a:ext cx="7258050" cy="4330637"/>
            <a:chOff x="933450" y="1143000"/>
            <a:chExt cx="7258050" cy="4330637"/>
          </a:xfrm>
        </p:grpSpPr>
        <p:sp>
          <p:nvSpPr>
            <p:cNvPr id="3" name="Rectangle 3"/>
            <p:cNvSpPr/>
            <p:nvPr/>
          </p:nvSpPr>
          <p:spPr>
            <a:xfrm>
              <a:off x="952500" y="1143000"/>
              <a:ext cx="2952750" cy="342900"/>
            </a:xfrm>
            <a:prstGeom prst="roundRect">
              <a:avLst>
                <a:gd name="adj" fmla="val 50000"/>
              </a:avLst>
            </a:prstGeom>
            <a:solidFill>
              <a:srgbClr val="13407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443979" y="1248728"/>
              <a:ext cx="1969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05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실전 종목 청문회 감사 리포트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3450" y="1722120"/>
              <a:ext cx="542963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900" b="1" spc="-75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삼성전자 vs 피터 린치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1070" y="2376488"/>
              <a:ext cx="42209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종목 청문회 최종 진단 보고서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905125"/>
              <a:ext cx="762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9B27"/>
                </a:gs>
                <a:gs pos="100000">
                  <a:srgbClr val="E5C15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3238500"/>
              <a:ext cx="7239000" cy="1238250"/>
            </a:xfrm>
            <a:prstGeom prst="roundRect">
              <a:avLst>
                <a:gd name="adj" fmla="val 9231"/>
              </a:avLst>
            </a:prstGeom>
            <a:solidFill>
              <a:srgbClr val="134074">
                <a:alpha val="6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32385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31392" y="3454718"/>
              <a:ext cx="533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🎯 진단 결과 요약: 총점 85점 / 100점 (🛡️ 든든한 대형 우량주)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2535" y="3783806"/>
              <a:ext cx="5724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"순현금 100조 원과 PEG 0.9의 안전마진 확보, 30~50% 반등 시 교체 매매 권고"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3297" y="4133374"/>
              <a:ext cx="3868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피터 린치 10대 심문 공식 및 실시간 재무 데이터 기반 정밀 판결문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46785" y="5022056"/>
              <a:ext cx="5076553" cy="451581"/>
              <a:chOff x="946785" y="5022056"/>
              <a:chExt cx="5076553" cy="45158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46785" y="5022056"/>
                <a:ext cx="50765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8E9AA8"/>
                    </a:solidFill>
                    <a:latin typeface="Pretendard"/>
                    <a:ea typeface="Pretendard"/>
                    <a:cs typeface="Pretendard"/>
                  </a:rPr>
                  <a:t>진단 대상: 삼성전자 (005930.KS) | 진단 기준: Peter Lynch Framework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7166" y="5268278"/>
                <a:ext cx="35020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투자구루를 만나기 위한 여정 | 구루 팩토리 자동화 엔진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8572500" y="1619250"/>
            <a:ext cx="2667000" cy="4000500"/>
            <a:chOff x="8572500" y="1619250"/>
            <a:chExt cx="26670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8572500" y="1619250"/>
              <a:ext cx="2667000" cy="4000500"/>
            </a:xfrm>
            <a:prstGeom prst="roundRect">
              <a:avLst>
                <a:gd name="adj" fmla="val 5000"/>
              </a:avLst>
            </a:prstGeom>
            <a:solidFill>
              <a:srgbClr val="134074">
                <a:alpha val="50000"/>
              </a:srgbClr>
            </a:solidFill>
            <a:ln w="14288">
              <a:solidFill>
                <a:srgbClr val="1E4D82">
                  <a:alpha val="50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858250" y="1905000"/>
              <a:ext cx="2095500" cy="619125"/>
            </a:xfrm>
            <a:prstGeom prst="roundRect">
              <a:avLst>
                <a:gd name="adj" fmla="val 12308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0203" y="2029778"/>
              <a:ext cx="133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050" b="1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피터 린치 종합 평점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20790" y="2199322"/>
              <a:ext cx="13704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85 / 100점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858250" y="271462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E4D8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00541" y="2887028"/>
              <a:ext cx="1613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1심 (신분): 대형우량주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0541" y="3220402"/>
              <a:ext cx="1517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2심 (상식): 20 / 30점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00541" y="3553778"/>
              <a:ext cx="1517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3심 (재무): 25 / 30점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0541" y="3887152"/>
              <a:ext cx="1517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4심 (뻘짓): 30 / 30점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0541" y="4220528"/>
              <a:ext cx="1517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5심 (멘탈): 20 / 20점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10625" y="4762500"/>
              <a:ext cx="2190750" cy="523875"/>
            </a:xfrm>
            <a:prstGeom prst="roundRect">
              <a:avLst>
                <a:gd name="adj" fmla="val 14545"/>
              </a:avLst>
            </a:prstGeom>
            <a:gradFill>
              <a:gsLst>
                <a:gs pos="0">
                  <a:srgbClr val="C59B27"/>
                </a:gs>
                <a:gs pos="100000">
                  <a:srgbClr val="E5C15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58092" y="4869656"/>
              <a:ext cx="1895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2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최종 선고: 🛡️ 우량 방어주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32989" y="5084445"/>
              <a:ext cx="17460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(보유 &amp; 30~50% 반등 시 교체)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10709453" cy="1007078"/>
            <a:chOff x="559308" y="428625"/>
            <a:chExt cx="10709453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1심 : 신분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107094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삼성전자의 신분 확정 : "대형우량주(Stalwarts) + 경기순환 혼합형"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6466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삼성전자는 10배를 바라는 고성장주가 아니다. 포트폴리오를 지키는 든든한 방패다.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1" name="Group 21"/>
            <p:cNvGrpSpPr/>
            <p:nvPr/>
          </p:nvGrpSpPr>
          <p:grpSpPr>
            <a:xfrm>
              <a:off x="571500" y="1524000"/>
              <a:ext cx="5381625" cy="4000500"/>
              <a:chOff x="571500" y="1524000"/>
              <a:chExt cx="5381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5381625" cy="4000500"/>
              </a:xfrm>
              <a:prstGeom prst="roundRect">
                <a:avLst>
                  <a:gd name="adj" fmla="val 2857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5381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48868" y="1774508"/>
                <a:ext cx="33377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판정: 대형우량주 (Stalwarts)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51535" y="2116931"/>
                <a:ext cx="29294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연평균 기대수익률: 10~15% (배당 포함)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57250" y="2428875"/>
                <a:ext cx="481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10125" h="9525">
                    <a:moveTo>
                      <a:pt x="0" y="0"/>
                    </a:moveTo>
                    <a:lnTo>
                      <a:pt x="48101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51154" y="2680335"/>
                <a:ext cx="16493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왜 대형우량주인가?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51535" y="2974181"/>
                <a:ext cx="35973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1444" indent="-121444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글로벌 D램/NAND 플래시 시장 점유율 1위 독점력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1535" y="3259931"/>
                <a:ext cx="42446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1444" indent="-121444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시가총액 400조 원 규모로 10배 폭발 성장은 물리적으로 불가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1535" y="3545681"/>
                <a:ext cx="4237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1444" indent="-121444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불황에도 망하지 않고 살아남아 시장 점유율을 흡수하는 방패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857250" y="4095750"/>
                <a:ext cx="481012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4288">
                <a:solidFill>
                  <a:srgbClr val="0B25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94791" y="4268152"/>
                <a:ext cx="13464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평가: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95172" y="4561999"/>
                <a:ext cx="33831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"대형우량주를 사놓고 10루타를 기대하는 것은 착각이다.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95172" y="4800124"/>
                <a:ext cx="455131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이 주식은 30~50% 수익이 나면 팔아서 소외된 다른 주식으로 갈아타야 한다."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238875" y="1524000"/>
              <a:ext cx="5381625" cy="4000500"/>
              <a:chOff x="6238875" y="1524000"/>
              <a:chExt cx="5381625" cy="4000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238875" y="1524000"/>
                <a:ext cx="5381625" cy="4000500"/>
              </a:xfrm>
              <a:prstGeom prst="roundRect">
                <a:avLst>
                  <a:gd name="adj" fmla="val 2857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238875" y="1524000"/>
                <a:ext cx="5381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516243" y="1774508"/>
                <a:ext cx="29204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보조 성격: 경기순환 사이클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18910" y="2116931"/>
                <a:ext cx="22695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반도체 다운사이클 바닥 통과 중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524625" y="2428875"/>
                <a:ext cx="481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10125" h="9525">
                    <a:moveTo>
                      <a:pt x="0" y="0"/>
                    </a:moveTo>
                    <a:lnTo>
                      <a:pt x="48101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518529" y="2680335"/>
                <a:ext cx="1437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매매 타이밍 원칙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18910" y="2974181"/>
                <a:ext cx="43658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1444" indent="-121444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반도체 사이클상 적자/감산 뉴스가 쏟아질 때가 바닥 매수 기회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18910" y="3259931"/>
                <a:ext cx="44188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1444" indent="-121444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사상 최대 실적 경신 뉴스와 온 국민 환호 시점이 상투 매도 신호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18910" y="3545681"/>
                <a:ext cx="42613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1444" indent="-121444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현재 시점: HBM 우려 등으로 주가가 눌려있는 회복기 초입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524625" y="4095750"/>
                <a:ext cx="481012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DCFCE7"/>
              </a:solidFill>
              <a:ln w="14288">
                <a:solidFill>
                  <a:srgbClr val="16A34A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662166" y="4268152"/>
                <a:ext cx="12128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⚖️ 1심 최종 판결: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662547" y="4561999"/>
                <a:ext cx="36069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"신분: 대형우량주 | 배정 포트폴리오 비중: 20~30% 적합"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62547" y="4800124"/>
                <a:ext cx="398691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안정적인 하방 지지력을 바탕으로 다음 2심(상식 심문)으로 회부함.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7368982" cy="1007078"/>
            <a:chOff x="559308" y="428625"/>
            <a:chExt cx="7368982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2심 : 상식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7368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2심 결과 : 20점 / 30점 획득 (소외주 여부 감점)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5943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초등학생도 아는 명확한 사업이지만, 전 국민이 알고 있어 소외 프리미엄 부재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524000"/>
              <a:ext cx="3476625" cy="4000500"/>
              <a:chOff x="571500" y="1524000"/>
              <a:chExt cx="3476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76233" y="1837849"/>
                <a:ext cx="6287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Q1. 10점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767" y="2187892"/>
                <a:ext cx="18170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크레용 테스트 : 통과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09625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04291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진단: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4672" y="2990374"/>
                <a:ext cx="25431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"스마트폰과 가전을 팔고, 모든 전자기기에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4672" y="3199924"/>
                <a:ext cx="241186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들어가는 메모리 반도체를 만들어 판다."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672" y="3438049"/>
                <a:ext cx="2490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➔ 초등학생도 1분 만에 이해 완료 (만점)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62000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0112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0112" y="4379595"/>
                <a:ext cx="198440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"돈 버는 구조가 단순하고 확실하다.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4570095"/>
                <a:ext cx="170573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이해하기 쉬운 사업 모델이다."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717624" y="5152549"/>
                <a:ext cx="11748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352925" y="1524000"/>
              <a:ext cx="3476625" cy="4000500"/>
              <a:chOff x="4352925" y="1524000"/>
              <a:chExt cx="3476625" cy="4000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35292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591050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657658" y="1837849"/>
                <a:ext cx="6287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Q2. 10점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84192" y="2187892"/>
                <a:ext cx="18742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일상 관찰 우위 : 통과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591050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585716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진단: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86097" y="2990374"/>
                <a:ext cx="214564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내 주머니의 갤럭시폰, 거실의 TV,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86097" y="3199924"/>
                <a:ext cx="274198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사무실 컴퓨터의 SSD까지 일상 점유율 압도.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6097" y="3438049"/>
                <a:ext cx="20013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➔ 일상 속 소비 관찰 입증 (만점)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543425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681538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81538" y="4379595"/>
                <a:ext cx="21964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"소비자가 제품을 직접 만지고 쓰는 것을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81538" y="4570095"/>
                <a:ext cx="22994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확인할 수 있는 확실한 생활 밀착형 기업."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543425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499049" y="5152549"/>
                <a:ext cx="11748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43875" y="1524000"/>
              <a:ext cx="3476625" cy="4000500"/>
              <a:chOff x="8143875" y="1524000"/>
              <a:chExt cx="3476625" cy="4000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14387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382000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FEE2E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488653" y="1837849"/>
                <a:ext cx="54869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Q3. 0점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75142" y="2187892"/>
                <a:ext cx="18170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소외주 선점 : 불합격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8382000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376666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DC2626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감점 사유: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7047" y="2990374"/>
                <a:ext cx="24643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대한민국 국민 500만 명이 보유한 국민주.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77047" y="3199924"/>
                <a:ext cx="25628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매일 뉴스 1면에 도배되며 소외 프리미엄 0.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77047" y="3438049"/>
                <a:ext cx="23527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➔ 남들보다 앞선 선점 이점 없음 (0점)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8334375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472488" y="4141470"/>
                <a:ext cx="86187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💬 린치의 팩폭: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72488" y="4379595"/>
                <a:ext cx="203892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"온 국민이 떠드는 유명한 주식에서는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472488" y="4570095"/>
                <a:ext cx="199651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10루타 대박이 절대 나오지 않는다."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334375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297280" y="5152549"/>
                <a:ext cx="116029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[X] 불합격 (0점)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8716670" cy="1007078"/>
            <a:chOff x="559308" y="428625"/>
            <a:chExt cx="8716670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3심 : 재무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87166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3심 결과 : 25점 / 30점 획득 (PEG 0.9 안전마진 우수)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6024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예상 PER 13배 ÷ 이익성장률 15% = PEG 0.86으로 피터 린치 적정가치 통과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524000"/>
              <a:ext cx="3476625" cy="4000500"/>
              <a:chOff x="571500" y="1524000"/>
              <a:chExt cx="3476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76233" y="1837849"/>
                <a:ext cx="6287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Q4. 10점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767" y="2187892"/>
                <a:ext cx="18742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성공 공식 복제 : 통과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09625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04291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팩트: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4672" y="2990374"/>
                <a:ext cx="25103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평택/화성 팹의 양산 노하우를 미국 테일러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4672" y="3199924"/>
                <a:ext cx="254968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및 글로벌 공장으로 동일하게 복제 확장 중.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672" y="3438049"/>
                <a:ext cx="242859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➔ 글로벌 제조 복제력 입증 (10점 만점)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62000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0112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0112" y="4379595"/>
                <a:ext cx="247509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"한 번 입증된 생산 능력을 글로벌로 복제하는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4570095"/>
                <a:ext cx="170573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기업은 쉽게 흔들리지 않는다."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717624" y="5152549"/>
                <a:ext cx="11748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352925" y="1524000"/>
              <a:ext cx="3476625" cy="4000500"/>
              <a:chOff x="4352925" y="1524000"/>
              <a:chExt cx="3476625" cy="4000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35292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591050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657658" y="1837849"/>
                <a:ext cx="6287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Q5. 10점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84192" y="2187892"/>
                <a:ext cx="19089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PEG 비율 검증 : 통과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591050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585716" y="2744152"/>
                <a:ext cx="18939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팩트 (PEG = 0.86):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86097" y="2990374"/>
                <a:ext cx="18764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05251" indent="-105251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12개월 선행 PER: 약 13.0배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86097" y="3199924"/>
                <a:ext cx="24974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05251" indent="-105251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반도체 턴어라운드 연 이익성장률: 15%+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6097" y="3438049"/>
                <a:ext cx="276209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➔ PEG 0.86 &lt;= 1.0 (안전마진 확보, 만점)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543425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681538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81538" y="4379595"/>
                <a:ext cx="230741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"성장률보다 낮은 PER에 거래되고 있다.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81538" y="4570095"/>
                <a:ext cx="179054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가격적인 안전마진이 충분하다."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543425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499049" y="5152549"/>
                <a:ext cx="11748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43875" y="1524000"/>
              <a:ext cx="3476625" cy="4000500"/>
              <a:chOff x="8143875" y="1524000"/>
              <a:chExt cx="3476625" cy="4000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14387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382000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FEF9C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488653" y="1837849"/>
                <a:ext cx="54869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854D0E"/>
                    </a:solidFill>
                    <a:latin typeface="Pretendard"/>
                    <a:ea typeface="Pretendard"/>
                    <a:cs typeface="Pretendard"/>
                  </a:rPr>
                  <a:t>Q6. 5점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75142" y="2187892"/>
                <a:ext cx="19219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기관/외인 지분 : 부분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8382000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376666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팩트: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7047" y="2990374"/>
                <a:ext cx="26415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외국인 지분율 약 54%, 국내 기관 다수 보유.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77047" y="3199924"/>
                <a:ext cx="272031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기관이 꽉 차 있어 신규 수급 폭발력은 제한적.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77047" y="3438049"/>
                <a:ext cx="207716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➔ 기관 포화 상태 (5점 부분 획득)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8334375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472488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72488" y="4379595"/>
                <a:ext cx="19177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"기관들이 이미 많이 들고 있으므로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472488" y="4570095"/>
                <a:ext cx="22994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외인 수급에 따라 주가가 출렁일 수 있다."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334375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200613" y="5152549"/>
                <a:ext cx="13536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[△] 부분 통과 (+5점)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10269504" cy="1007078"/>
            <a:chOff x="559308" y="428625"/>
            <a:chExt cx="10269504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166534"/>
                  </a:solidFill>
                  <a:latin typeface="Pretendard"/>
                  <a:ea typeface="Pretendard"/>
                  <a:cs typeface="Pretendard"/>
                </a:rPr>
                <a:t>4심 : 뻘짓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102695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4심 결과 : 30점 / 30점 만점 획득 (순현금 100조 원의 절대 방어력)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6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무리한 사업다악화가 없고, 부채비율 25% 미만과 풍부한 순현금으로 파산 가능성 0%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524000"/>
              <a:ext cx="3476625" cy="4000500"/>
              <a:chOff x="571500" y="1524000"/>
              <a:chExt cx="3476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76233" y="1837849"/>
                <a:ext cx="6287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Q7. 10점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767" y="2187892"/>
                <a:ext cx="20078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사업다악화 부재 : 만점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09625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04291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팩트: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4672" y="2990374"/>
                <a:ext cx="231206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엉뚱한 비관련 사업 M&amp;A를 자제하고,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4672" y="3199924"/>
                <a:ext cx="26934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반도체/AI/파운드리 본업 R&amp;D에 집중 투자.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672" y="3438049"/>
                <a:ext cx="22494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➔ 사업다악화 낭비 없음 (10점 만점)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62000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0112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0112" y="4379595"/>
                <a:ext cx="20752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"돈을 엉뚱한 기업 인수에 날리지 않고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4570095"/>
                <a:ext cx="21055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본업 시설투자에 쓰는 것은 정석이다."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717624" y="5152549"/>
                <a:ext cx="11748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352925" y="1524000"/>
              <a:ext cx="3476625" cy="4000500"/>
              <a:chOff x="4352925" y="1524000"/>
              <a:chExt cx="3476625" cy="4000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35292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591050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657658" y="1837849"/>
                <a:ext cx="6287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Q8. 10점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84192" y="2187892"/>
                <a:ext cx="17502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순현금 100조 : 만점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591050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585716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팩트: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86097" y="2990374"/>
                <a:ext cx="27268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현금성 자산 약 100조 원 보유, 부채비율 25%.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86097" y="3199924"/>
                <a:ext cx="24578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자사주 매입 및 배당 여력 세계 최고 수준.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6097" y="3438049"/>
                <a:ext cx="211161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➔ 철벽의 재무 안전성 (10점 만점)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543425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681538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81538" y="4379595"/>
                <a:ext cx="20389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"부채가 없고 현금이 쌓여있는 회사는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81538" y="4570095"/>
                <a:ext cx="222671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어떤 폭락장에도 주가가 바닥을 지킨다."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543425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499049" y="5152549"/>
                <a:ext cx="11748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43875" y="1524000"/>
              <a:ext cx="3476625" cy="4000500"/>
              <a:chOff x="8143875" y="1524000"/>
              <a:chExt cx="3476625" cy="4000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14387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382000" y="1762125"/>
                <a:ext cx="7620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448608" y="1837849"/>
                <a:ext cx="6287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Q9. 10점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75142" y="2187892"/>
                <a:ext cx="18742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과열 진정 구간 : 만점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8382000" y="25241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376666" y="2744152"/>
                <a:ext cx="849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05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실제 팩트: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7047" y="2990374"/>
                <a:ext cx="22806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9만전자 시절의 광풍이 꺾이고, 현재는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77047" y="3199924"/>
                <a:ext cx="247092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비관론과 실망감이 지배하는 저평가 구간.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77047" y="3438049"/>
                <a:ext cx="232523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➔ 칵테일 파티 1~2단계 침체기 (만점)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8334375" y="4000500"/>
                <a:ext cx="30956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472488" y="4141470"/>
                <a:ext cx="9890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린치의 코멘트: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72488" y="4379595"/>
                <a:ext cx="262653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"모두가 실망하고 무관심할 때가 매수 시점이다.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472488" y="4570095"/>
                <a:ext cx="21055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치과의사가 추천할 때는 이미 지났다."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334375" y="504825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289999" y="5152549"/>
                <a:ext cx="11748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7809997" cy="1007078"/>
            <a:chOff x="559308" y="428625"/>
            <a:chExt cx="7809997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5심 : 멘탈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78099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5심 결과 : 20점 / 20점 만점 획득 (장기 보유 배짱)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6166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삼성전자는 단기 급등주가 아닌 만큼, 시간에 쫓기지 않는 여유 자금 운용이 필수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3" name="Group 23"/>
            <p:cNvGrpSpPr/>
            <p:nvPr/>
          </p:nvGrpSpPr>
          <p:grpSpPr>
            <a:xfrm>
              <a:off x="571500" y="1524000"/>
              <a:ext cx="5381625" cy="4000500"/>
              <a:chOff x="571500" y="1524000"/>
              <a:chExt cx="5381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5381625" cy="4000500"/>
              </a:xfrm>
              <a:prstGeom prst="roundRect">
                <a:avLst>
                  <a:gd name="adj" fmla="val 2857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5381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57250" y="1809750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04174" y="1896428"/>
                <a:ext cx="76340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Q10. 10점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49630" y="2266950"/>
                <a:ext cx="29942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폭락장 감내력 : 추가 매수 확신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57250" y="2619375"/>
                <a:ext cx="481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10125" h="9525">
                    <a:moveTo>
                      <a:pt x="0" y="0"/>
                    </a:moveTo>
                    <a:lnTo>
                      <a:pt x="48101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1535" y="2878931"/>
                <a:ext cx="14349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투자자 심리 진단: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1916" y="3172778"/>
                <a:ext cx="35303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삼성전자가 단기 실적 쇼크로 5만 원대로 밀려나더라도,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1916" y="3410902"/>
                <a:ext cx="34949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망할 회사가 아니므로 분할 매수할 배짱과 확신이 있음.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857250" y="3905250"/>
                <a:ext cx="48101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95172" y="4085749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평가: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95172" y="4323874"/>
                <a:ext cx="292375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"주가 하락은 우량주를 싸게 살 수 있는 축복이다.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95172" y="4542949"/>
                <a:ext cx="241186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기계적인 손절매 주문을 걸어두지 마라."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857250" y="5000625"/>
                <a:ext cx="4810125" cy="333375"/>
              </a:xfrm>
              <a:prstGeom prst="roundRect">
                <a:avLst>
                  <a:gd name="adj" fmla="val 17143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24938" y="5106352"/>
                <a:ext cx="12652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238875" y="1524000"/>
              <a:ext cx="5381625" cy="4000500"/>
              <a:chOff x="6238875" y="1524000"/>
              <a:chExt cx="5381625" cy="4000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238875" y="1524000"/>
                <a:ext cx="5381625" cy="4000500"/>
              </a:xfrm>
              <a:prstGeom prst="roundRect">
                <a:avLst>
                  <a:gd name="adj" fmla="val 2857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238875" y="1524000"/>
                <a:ext cx="5381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524625" y="1809750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571549" y="1896428"/>
                <a:ext cx="76340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Q11. 10점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17005" y="2266950"/>
                <a:ext cx="311082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시간의 여유 : 순수 3년 여유자금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6524625" y="2619375"/>
                <a:ext cx="481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10125" h="9525">
                    <a:moveTo>
                      <a:pt x="0" y="0"/>
                    </a:moveTo>
                    <a:lnTo>
                      <a:pt x="48101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518910" y="2878931"/>
                <a:ext cx="12759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자금 성격 진단: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19291" y="3172778"/>
                <a:ext cx="290129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반도체 사이클 2~3년을 온전히 기다릴 수 있는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19291" y="3410902"/>
                <a:ext cx="31698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순수 여유 자금으로 매수하여 시간에 쫓기지 않음.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524625" y="3905250"/>
                <a:ext cx="4810125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662547" y="4085749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평가: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62547" y="4323874"/>
                <a:ext cx="207716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"시간을 내 편으로 만드는 사람만이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662547" y="4542949"/>
                <a:ext cx="25824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대형우량주의 과실을 온전히 거둘 수 있다."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524625" y="5000625"/>
                <a:ext cx="4810125" cy="333375"/>
              </a:xfrm>
              <a:prstGeom prst="roundRect">
                <a:avLst>
                  <a:gd name="adj" fmla="val 17143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292313" y="5106352"/>
                <a:ext cx="12652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[V] 통과 (+10점)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9641906" cy="1007078"/>
            <a:chOff x="559308" y="428625"/>
            <a:chExt cx="9641906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5706" y="494824"/>
              <a:ext cx="7403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166534"/>
                  </a:solidFill>
                  <a:latin typeface="Pretendard"/>
                  <a:ea typeface="Pretendard"/>
                  <a:cs typeface="Pretendard"/>
                </a:rPr>
                <a:t>최종 선고문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96419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피터 린치의 최종 판결 : 85점 / 100점 (🛡️ 든든한 우량 방어주)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7633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"포트폴리오의 든든한 기둥이다. 30~50% 반등하여 적정가치에 도달하면 다른 소외주로 교체하라."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524000"/>
              <a:ext cx="11049000" cy="4000500"/>
            </a:xfrm>
            <a:prstGeom prst="roundRect">
              <a:avLst>
                <a:gd name="adj" fmla="val 3333"/>
              </a:avLst>
            </a:prstGeom>
            <a:solidFill>
              <a:srgbClr val="F4F6F9"/>
            </a:solidFill>
            <a:ln w="19050">
              <a:solidFill>
                <a:srgbClr val="0B254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524000"/>
              <a:ext cx="114300" cy="4000500"/>
            </a:xfrm>
            <a:prstGeom prst="roundRect">
              <a:avLst>
                <a:gd name="adj" fmla="val 33333"/>
              </a:avLst>
            </a:prstGeom>
            <a:solidFill>
              <a:srgbClr val="C59B2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01067" y="1857375"/>
              <a:ext cx="10438433" cy="3190875"/>
              <a:chOff x="801067" y="1857375"/>
              <a:chExt cx="10438433" cy="319087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52500" y="1857375"/>
                <a:ext cx="1714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01067" y="1959292"/>
                <a:ext cx="20173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🛡️ 85점 : 2등급 우량주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49118" y="1945958"/>
                <a:ext cx="55792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행동 지침: [보유 및 30~50% 반등 시 교체 매매 준비]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952500" y="2428875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46023" y="2672239"/>
                <a:ext cx="26442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📜 피터 린치의 최종 선고문 전문: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952500" y="3000375"/>
                <a:ext cx="1028700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84910" y="3212306"/>
                <a:ext cx="72203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"삼성전자는 10루타를 노릴 수 있는 신생 고성장주는 아니지만, 현금 100조 원과 세계 1위 반도체 독점력을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84910" y="3498056"/>
                <a:ext cx="65186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보유한 훌륭한 대형우량주(Stalwart)다. PEG 0.86 수준의 가격은 하방 안전마진을 보장한다.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84910" y="3783806"/>
                <a:ext cx="71879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지금은 팔 때가 아니며 보유(Hold)하고, 향후 사이클 회복으로 30~50% 상승하면 이익을 실현하라."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952500" y="4476750"/>
                <a:ext cx="10287000" cy="571500"/>
                <a:chOff x="952500" y="4476750"/>
                <a:chExt cx="10287000" cy="571500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952500" y="4476750"/>
                  <a:ext cx="3286125" cy="5715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0B2545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924324" y="4619149"/>
                  <a:ext cx="133295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b="1" dirty="0">
                      <a:solidFill>
                        <a:srgbClr val="8E9AA8"/>
                      </a:solidFill>
                      <a:latin typeface="Pretendard"/>
                      <a:ea typeface="Pretendard"/>
                      <a:cs typeface="Pretendard"/>
                    </a:rPr>
                    <a:t>추천 포트폴리오 비중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812928" y="4794885"/>
                  <a:ext cx="155574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200" b="1" dirty="0">
                      <a:solidFill>
                        <a:srgbClr val="E5C158"/>
                      </a:solidFill>
                      <a:latin typeface="Pretendard"/>
                      <a:ea typeface="Pretendard"/>
                      <a:cs typeface="Pretendard"/>
                    </a:rPr>
                    <a:t>전체 자산의 20~30%</a:t>
                  </a:r>
                </a:p>
              </p:txBody>
            </p:sp>
            <p:sp>
              <p:nvSpPr>
                <p:cNvPr id="22" name="Rectangle 22"/>
                <p:cNvSpPr/>
                <p:nvPr/>
              </p:nvSpPr>
              <p:spPr>
                <a:xfrm>
                  <a:off x="4429125" y="4476750"/>
                  <a:ext cx="3286125" cy="5715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0B2545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538767" y="4619149"/>
                  <a:ext cx="1057317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b="1" dirty="0">
                      <a:solidFill>
                        <a:srgbClr val="8E9AA8"/>
                      </a:solidFill>
                      <a:latin typeface="Pretendard"/>
                      <a:ea typeface="Pretendard"/>
                      <a:cs typeface="Pretendard"/>
                    </a:rPr>
                    <a:t>목표 수익률 밴드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073286" y="4794885"/>
                  <a:ext cx="198827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200" b="1" dirty="0">
                      <a:solidFill>
                        <a:srgbClr val="E5C158"/>
                      </a:solidFill>
                      <a:latin typeface="Pretendard"/>
                      <a:ea typeface="Pretendard"/>
                      <a:cs typeface="Pretendard"/>
                    </a:rPr>
                    <a:t>+30% ~ +50% (차익 실현)</a:t>
                  </a:r>
                </a:p>
              </p:txBody>
            </p:sp>
            <p:sp>
              <p:nvSpPr>
                <p:cNvPr id="25" name="Rectangle 25"/>
                <p:cNvSpPr/>
                <p:nvPr/>
              </p:nvSpPr>
              <p:spPr>
                <a:xfrm>
                  <a:off x="7905750" y="4476750"/>
                  <a:ext cx="3333750" cy="5715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0B2545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202456" y="4619149"/>
                  <a:ext cx="740337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b="1" dirty="0">
                      <a:solidFill>
                        <a:srgbClr val="8E9AA8"/>
                      </a:solidFill>
                      <a:latin typeface="Pretendard"/>
                      <a:ea typeface="Pretendard"/>
                      <a:cs typeface="Pretendard"/>
                    </a:rPr>
                    <a:t>손절매 여부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548802" y="4794885"/>
                  <a:ext cx="204764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200" b="1" dirty="0">
                      <a:solidFill>
                        <a:srgbClr val="10B981"/>
                      </a:solidFill>
                      <a:latin typeface="Pretendard"/>
                      <a:ea typeface="Pretendard"/>
                      <a:cs typeface="Pretendard"/>
                    </a:rPr>
                    <a:t>기계적 손절매 금지 (보유)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33375"/>
            <a:ext cx="6256439" cy="936784"/>
            <a:chOff x="560070" y="333375"/>
            <a:chExt cx="6256439" cy="936784"/>
          </a:xfrm>
        </p:grpSpPr>
        <p:sp>
          <p:nvSpPr>
            <p:cNvPr id="3" name="Rectangle 3"/>
            <p:cNvSpPr/>
            <p:nvPr/>
          </p:nvSpPr>
          <p:spPr>
            <a:xfrm>
              <a:off x="571500" y="333375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7217" y="399574"/>
              <a:ext cx="10573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진단 완료 채점표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681038"/>
              <a:ext cx="62564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삼성전자 종목 청문회 실전 채점표 (완료본)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785" y="1050131"/>
              <a:ext cx="3464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피터 린치 10대 심문 항목별 실제 점수 및 평가 근거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238250"/>
            <a:ext cx="11049000" cy="476250"/>
            <a:chOff x="571500" y="1238250"/>
            <a:chExt cx="11049000" cy="47625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F4F6F9"/>
            </a:solidFill>
            <a:ln w="14288">
              <a:solidFill>
                <a:srgbClr val="0B254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910" y="14120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진단 대상 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65910" y="1412081"/>
              <a:ext cx="1394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134074"/>
                  </a:solidFill>
                  <a:latin typeface="Pretendard"/>
                  <a:ea typeface="Pretendard"/>
                  <a:cs typeface="Pretendard"/>
                </a:rPr>
                <a:t>삼성전자 (005930)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99535" y="1412081"/>
              <a:ext cx="1124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1심 확정 유형 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94910" y="1412081"/>
              <a:ext cx="18196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134074"/>
                  </a:solidFill>
                  <a:latin typeface="Pretendard"/>
                  <a:ea typeface="Pretendard"/>
                  <a:cs typeface="Pretendard"/>
                </a:rPr>
                <a:t>대형우량주 (Stalwarts)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09535" y="1412081"/>
              <a:ext cx="1355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최종 청문회 총점 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42273" y="1395889"/>
              <a:ext cx="23017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85점 / 100점 (🛡️ 우량방어)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71500" y="1857375"/>
            <a:ext cx="11049000" cy="3552825"/>
            <a:chOff x="571500" y="1857375"/>
            <a:chExt cx="11049000" cy="3552825"/>
          </a:xfrm>
        </p:grpSpPr>
        <p:sp>
          <p:nvSpPr>
            <p:cNvPr id="16" name="Rectangle 16"/>
            <p:cNvSpPr/>
            <p:nvPr/>
          </p:nvSpPr>
          <p:spPr>
            <a:xfrm>
              <a:off x="571500" y="1857375"/>
              <a:ext cx="11049000" cy="304800"/>
            </a:xfrm>
            <a:prstGeom prst="roundRect">
              <a:avLst>
                <a:gd name="adj" fmla="val 125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2297" y="1952149"/>
              <a:ext cx="285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9047" y="1952149"/>
              <a:ext cx="602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심문 항목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5547" y="1952149"/>
              <a:ext cx="16912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삼성전자 실제 팩트 및 근거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10547" y="1952149"/>
              <a:ext cx="285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3047" y="1952149"/>
              <a:ext cx="602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획득 점수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71500" y="2190750"/>
              <a:ext cx="11049000" cy="304800"/>
              <a:chOff x="571500" y="2190750"/>
              <a:chExt cx="11049000" cy="3048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2190750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04862" y="229362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2심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19238" y="2293620"/>
                <a:ext cx="11453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Q1. 크레용 테스트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995738" y="2293620"/>
                <a:ext cx="33534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스마트폰, 가전, 메모리 반도체 제조 판매 (사업 이해도 명확)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758362" y="229362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805922" y="228552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71500" y="2514600"/>
              <a:ext cx="11049000" cy="304800"/>
              <a:chOff x="571500" y="2514600"/>
              <a:chExt cx="11049000" cy="3048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2514600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04862" y="261747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2심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19238" y="2617470"/>
                <a:ext cx="118567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Q2. 현장 관찰 우위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995738" y="2617470"/>
                <a:ext cx="319712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갤럭시폰, TV, 가전 등 일상 속 독보적 점유율 직접 목격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758362" y="261747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805922" y="260937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71500" y="2838450"/>
              <a:ext cx="11049000" cy="304800"/>
              <a:chOff x="571500" y="2838450"/>
              <a:chExt cx="11049000" cy="3048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2838450"/>
                <a:ext cx="11049000" cy="304800"/>
              </a:xfrm>
              <a:prstGeom prst="rect">
                <a:avLst/>
              </a:prstGeom>
              <a:solidFill>
                <a:srgbClr val="FEE2E2"/>
              </a:solidFill>
              <a:ln w="9525">
                <a:solidFill>
                  <a:srgbClr val="FCA5A5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04862" y="294132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2심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519238" y="2941320"/>
                <a:ext cx="118567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Q3. 소외 선점 여부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995738" y="2941320"/>
                <a:ext cx="338377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국민 500만 명 보유 국민주, 매일 언론 도배 (소외 프리미엄 0)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758362" y="294132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805922" y="2933224"/>
                <a:ext cx="5405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0점 감점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71500" y="3162300"/>
              <a:ext cx="11049000" cy="304800"/>
              <a:chOff x="571500" y="3162300"/>
              <a:chExt cx="11049000" cy="3048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3162300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04862" y="326517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3심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519238" y="3265170"/>
                <a:ext cx="118567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Q4. 성공 공식 복제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995738" y="3265170"/>
                <a:ext cx="318386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평택/화성 팹 양산 기술을 미국/글로벌 팹으로 성공적 복제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58362" y="326517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805922" y="325707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71500" y="3486150"/>
              <a:ext cx="11049000" cy="304800"/>
              <a:chOff x="571500" y="3486150"/>
              <a:chExt cx="11049000" cy="3048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3486150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04862" y="358902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3심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519238" y="3589020"/>
                <a:ext cx="113862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Q5. PEG 비율 검증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995738" y="3589020"/>
                <a:ext cx="34211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선행 PER 13배 ÷ 예상 이익성장률 15% = PEG 0.86 (저평가)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758362" y="358902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805922" y="358092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571500" y="3810000"/>
              <a:ext cx="11049000" cy="304800"/>
              <a:chOff x="571500" y="3810000"/>
              <a:chExt cx="11049000" cy="3048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71500" y="3810000"/>
                <a:ext cx="11049000" cy="304800"/>
              </a:xfrm>
              <a:prstGeom prst="rect">
                <a:avLst/>
              </a:prstGeom>
              <a:solidFill>
                <a:srgbClr val="FEF9C3"/>
              </a:solidFill>
              <a:ln w="9525">
                <a:solidFill>
                  <a:srgbClr val="FDE047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04862" y="391287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854D0E"/>
                    </a:solidFill>
                    <a:latin typeface="Pretendard"/>
                    <a:ea typeface="Pretendard"/>
                    <a:cs typeface="Pretendard"/>
                  </a:rPr>
                  <a:t>3심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519238" y="3912870"/>
                <a:ext cx="121927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854D0E"/>
                    </a:solidFill>
                    <a:latin typeface="Pretendard"/>
                    <a:ea typeface="Pretendard"/>
                    <a:cs typeface="Pretendard"/>
                  </a:rPr>
                  <a:t>Q6. 기관/외인 지분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995738" y="3912870"/>
                <a:ext cx="32383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854D0E"/>
                    </a:solidFill>
                    <a:latin typeface="Pretendard"/>
                    <a:ea typeface="Pretendard"/>
                    <a:cs typeface="Pretendard"/>
                  </a:rPr>
                  <a:t>외인 지분율 54%로 기관 포화 상태 (신규 수급 폭발력 제한)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758362" y="391287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805922" y="3904774"/>
                <a:ext cx="5405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D97706"/>
                    </a:solidFill>
                    <a:latin typeface="Pretendard"/>
                    <a:ea typeface="Pretendard"/>
                    <a:cs typeface="Pretendard"/>
                  </a:rPr>
                  <a:t>5점 부분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571500" y="4133850"/>
              <a:ext cx="11049000" cy="304800"/>
              <a:chOff x="571500" y="4133850"/>
              <a:chExt cx="11049000" cy="3048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571500" y="4133850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04862" y="423672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4심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519238" y="4236720"/>
                <a:ext cx="127976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Q7. 사업다악화 부재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995738" y="4236720"/>
                <a:ext cx="301150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본업과 무관한 M&amp;A 낭비 없음, 반도체 본업 R&amp;D 집중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758362" y="423672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805922" y="422862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71500" y="4457700"/>
              <a:ext cx="11049000" cy="304800"/>
              <a:chOff x="571500" y="4457700"/>
              <a:chExt cx="11049000" cy="3048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571500" y="4457700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04862" y="456057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4심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519238" y="4560570"/>
                <a:ext cx="11453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Q8. 순현금 건전성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3995738" y="4560570"/>
                <a:ext cx="354128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순현금 약 100조 원 보유, 부채비율 25% 미만 (세계 최고 안전성)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758362" y="456057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0805922" y="455247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571500" y="4781550"/>
              <a:ext cx="11049000" cy="304800"/>
              <a:chOff x="571500" y="4781550"/>
              <a:chExt cx="11049000" cy="30480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571500" y="4781550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04862" y="488442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4심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519238" y="4884420"/>
                <a:ext cx="118567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Q9. 대중 과열 진정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3995738" y="4884420"/>
                <a:ext cx="328684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9만전자 광풍 소멸, 비관론 우세한 칵테일 파티 1단계 침체기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758362" y="488442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0805922" y="487632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571500" y="5105400"/>
              <a:ext cx="11049000" cy="304800"/>
              <a:chOff x="571500" y="5105400"/>
              <a:chExt cx="11049000" cy="304800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571500" y="5105400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804862" y="5208270"/>
                <a:ext cx="206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5심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519238" y="5208270"/>
                <a:ext cx="121927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Q10. 폭락장 감내력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3995738" y="5208270"/>
                <a:ext cx="325655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3년 이상 여유 자금 투입, -30% 폭락 시 추가 분할 매수 원칙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9758362" y="5208270"/>
                <a:ext cx="276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805922" y="5200174"/>
                <a:ext cx="616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10점 만점</a:t>
                </a:r>
              </a:p>
            </p:txBody>
          </p:sp>
        </p:grpSp>
      </p:grpSp>
      <p:grpSp>
        <p:nvGrpSpPr>
          <p:cNvPr id="98" name="Group 98"/>
          <p:cNvGrpSpPr/>
          <p:nvPr/>
        </p:nvGrpSpPr>
        <p:grpSpPr>
          <a:xfrm>
            <a:off x="571500" y="5572125"/>
            <a:ext cx="11049000" cy="904875"/>
            <a:chOff x="571500" y="5572125"/>
            <a:chExt cx="11049000" cy="904875"/>
          </a:xfrm>
        </p:grpSpPr>
        <p:sp>
          <p:nvSpPr>
            <p:cNvPr id="93" name="Rectangle 93"/>
            <p:cNvSpPr/>
            <p:nvPr/>
          </p:nvSpPr>
          <p:spPr>
            <a:xfrm>
              <a:off x="571500" y="5572125"/>
              <a:ext cx="11049000" cy="904875"/>
            </a:xfrm>
            <a:prstGeom prst="roundRect">
              <a:avLst>
                <a:gd name="adj" fmla="val 8421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71500" y="5572125"/>
              <a:ext cx="76200" cy="904875"/>
            </a:xfrm>
            <a:prstGeom prst="roundRect">
              <a:avLst>
                <a:gd name="adj" fmla="val 50000"/>
              </a:avLst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51154" y="5804535"/>
              <a:ext cx="2225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피터 린치의 최종 선고 요약 :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3040380" y="5791200"/>
              <a:ext cx="3365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총점 85점 (🛡️ 든든한 우량 방어주)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52297" y="6152674"/>
              <a:ext cx="8029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"안전마진이 확보된 우량주이므로 매도할 필요 없이 보유(Hold)하고, 30~50% 반등 시 다른 저평가 소외주로 교체 매매를 추천합니다."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2026-08-17T03:41:22Z</dcterms:created>
  <dcterms:modified xsi:type="dcterms:W3CDTF">2026-08-17T03:41:22Z</dcterms:modified>
  <cp:category/>
  <cp:contentStatus/>
</cp:coreProperties>
</file>